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78" r:id="rId4"/>
    <p:sldId id="277" r:id="rId5"/>
    <p:sldId id="274" r:id="rId6"/>
    <p:sldId id="283" r:id="rId7"/>
    <p:sldId id="275" r:id="rId8"/>
    <p:sldId id="279" r:id="rId9"/>
    <p:sldId id="280" r:id="rId10"/>
    <p:sldId id="281" r:id="rId11"/>
    <p:sldId id="282" r:id="rId12"/>
    <p:sldId id="272" r:id="rId13"/>
  </p:sldIdLst>
  <p:sldSz cx="18288000" cy="10287000"/>
  <p:notesSz cx="6858000" cy="9144000"/>
  <p:embeddedFontLst>
    <p:embeddedFont>
      <p:font typeface="DM Sans" pitchFamily="2" charset="0"/>
      <p:regular r:id="rId14"/>
      <p:bold r:id="rId15"/>
      <p:italic r:id="rId16"/>
      <p:boldItalic r:id="rId17"/>
    </p:embeddedFont>
    <p:embeddedFont>
      <p:font typeface="DM Sans Bold" charset="0"/>
      <p:regular r:id="rId18"/>
    </p:embeddedFont>
    <p:embeddedFont>
      <p:font typeface="Kollektif Bold" panose="020B0604020202020204" charset="0"/>
      <p:regular r:id="rId19"/>
    </p:embeddedFont>
    <p:embeddedFont>
      <p:font typeface="Times New Roman Bold" panose="02020803070505020304" pitchFamily="18"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954" y="6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3.sv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3.sv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3.sv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3.sv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3.sv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3.sv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10"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3.sv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3.svg"/><Relationship Id="rId10" Type="http://schemas.openxmlformats.org/officeDocument/2006/relationships/image" Target="../media/image5.png"/><Relationship Id="rId4" Type="http://schemas.openxmlformats.org/officeDocument/2006/relationships/image" Target="../media/image12.png"/><Relationship Id="rId9"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293205" y="9035302"/>
            <a:ext cx="1781896" cy="1814894"/>
          </a:xfrm>
          <a:custGeom>
            <a:avLst/>
            <a:gdLst/>
            <a:ahLst/>
            <a:cxnLst/>
            <a:rect l="l" t="t" r="r" b="b"/>
            <a:pathLst>
              <a:path w="1781896" h="1814894">
                <a:moveTo>
                  <a:pt x="0" y="0"/>
                </a:moveTo>
                <a:lnTo>
                  <a:pt x="1781896" y="0"/>
                </a:lnTo>
                <a:lnTo>
                  <a:pt x="1781896" y="1814894"/>
                </a:lnTo>
                <a:lnTo>
                  <a:pt x="0" y="18148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325227" y="8397339"/>
            <a:ext cx="1962773" cy="1889661"/>
          </a:xfrm>
          <a:custGeom>
            <a:avLst/>
            <a:gdLst/>
            <a:ahLst/>
            <a:cxnLst/>
            <a:rect l="l" t="t" r="r" b="b"/>
            <a:pathLst>
              <a:path w="1962773" h="1889661">
                <a:moveTo>
                  <a:pt x="0" y="0"/>
                </a:moveTo>
                <a:lnTo>
                  <a:pt x="1962773" y="0"/>
                </a:lnTo>
                <a:lnTo>
                  <a:pt x="1962773" y="1889661"/>
                </a:lnTo>
                <a:lnTo>
                  <a:pt x="0" y="18896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0" y="0"/>
            <a:ext cx="17987676" cy="1976792"/>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6"/>
            <a:stretch>
              <a:fillRect t="-3637" b="-15050"/>
            </a:stretch>
          </a:blipFill>
        </p:spPr>
      </p:sp>
      <p:sp>
        <p:nvSpPr>
          <p:cNvPr id="5" name="TextBox 5"/>
          <p:cNvSpPr txBox="1"/>
          <p:nvPr/>
        </p:nvSpPr>
        <p:spPr>
          <a:xfrm>
            <a:off x="1677729" y="3632398"/>
            <a:ext cx="15310619" cy="658835"/>
          </a:xfrm>
          <a:prstGeom prst="rect">
            <a:avLst/>
          </a:prstGeom>
        </p:spPr>
        <p:txBody>
          <a:bodyPr lIns="0" tIns="0" rIns="0" bIns="0" rtlCol="0" anchor="t">
            <a:spAutoFit/>
          </a:bodyPr>
          <a:lstStyle/>
          <a:p>
            <a:pPr lvl="0" algn="ctr">
              <a:lnSpc>
                <a:spcPts val="5599"/>
              </a:lnSpc>
              <a:spcBef>
                <a:spcPct val="0"/>
              </a:spcBef>
            </a:pPr>
            <a:r>
              <a:rPr lang="en-US" sz="3999" b="1" dirty="0">
                <a:solidFill>
                  <a:srgbClr val="227C9D"/>
                </a:solidFill>
                <a:latin typeface="Times New Roman Bold"/>
                <a:ea typeface="Times New Roman Bold"/>
                <a:cs typeface="Times New Roman Bold"/>
                <a:sym typeface="Times New Roman Bold"/>
              </a:rPr>
              <a:t>Neuro-Symbolic Agent</a:t>
            </a:r>
          </a:p>
        </p:txBody>
      </p:sp>
      <p:sp>
        <p:nvSpPr>
          <p:cNvPr id="6" name="TextBox 6"/>
          <p:cNvSpPr txBox="1"/>
          <p:nvPr/>
        </p:nvSpPr>
        <p:spPr>
          <a:xfrm>
            <a:off x="1083809" y="5708538"/>
            <a:ext cx="5458782" cy="3019032"/>
          </a:xfrm>
          <a:prstGeom prst="rect">
            <a:avLst/>
          </a:prstGeom>
        </p:spPr>
        <p:txBody>
          <a:bodyPr wrap="square" lIns="0" tIns="0" rIns="0" bIns="0" rtlCol="0" anchor="t">
            <a:spAutoFit/>
          </a:bodyPr>
          <a:lstStyle/>
          <a:p>
            <a:pPr algn="just">
              <a:lnSpc>
                <a:spcPts val="5698"/>
              </a:lnSpc>
            </a:pPr>
            <a:r>
              <a:rPr lang="en-US" sz="2650" b="1" dirty="0">
                <a:solidFill>
                  <a:srgbClr val="000000"/>
                </a:solidFill>
                <a:latin typeface="DM Sans Bold"/>
                <a:ea typeface="DM Sans Bold"/>
                <a:cs typeface="DM Sans Bold"/>
                <a:sym typeface="DM Sans Bold"/>
              </a:rPr>
              <a:t>TEAM MEMBERS</a:t>
            </a:r>
          </a:p>
          <a:p>
            <a:pPr algn="just">
              <a:lnSpc>
                <a:spcPct val="150000"/>
              </a:lnSpc>
            </a:pPr>
            <a:r>
              <a:rPr lang="en-US" sz="2650" dirty="0">
                <a:solidFill>
                  <a:srgbClr val="000000"/>
                </a:solidFill>
                <a:latin typeface="DM Sans" pitchFamily="2" charset="0"/>
                <a:ea typeface="DM Sans Bold"/>
                <a:cs typeface="DM Sans Bold"/>
                <a:sym typeface="DM Sans Bold"/>
              </a:rPr>
              <a:t>Shamanth MS – 4VV23CI091</a:t>
            </a:r>
          </a:p>
          <a:p>
            <a:pPr algn="just">
              <a:lnSpc>
                <a:spcPct val="150000"/>
              </a:lnSpc>
            </a:pPr>
            <a:r>
              <a:rPr lang="en-US" sz="2650" dirty="0">
                <a:solidFill>
                  <a:srgbClr val="000000"/>
                </a:solidFill>
                <a:latin typeface="DM Sans" pitchFamily="2" charset="0"/>
                <a:ea typeface="DM Sans Bold"/>
                <a:cs typeface="DM Sans Bold"/>
                <a:sym typeface="DM Sans Bold"/>
              </a:rPr>
              <a:t>Shreyas J – 4VV23CI095</a:t>
            </a:r>
          </a:p>
          <a:p>
            <a:pPr algn="just">
              <a:lnSpc>
                <a:spcPct val="150000"/>
              </a:lnSpc>
            </a:pPr>
            <a:r>
              <a:rPr lang="en-US" sz="2650" dirty="0">
                <a:solidFill>
                  <a:srgbClr val="000000"/>
                </a:solidFill>
                <a:latin typeface="DM Sans" pitchFamily="2" charset="0"/>
                <a:ea typeface="DM Sans Bold"/>
                <a:cs typeface="DM Sans Bold"/>
                <a:sym typeface="DM Sans Bold"/>
              </a:rPr>
              <a:t>Mohammed Sami - 4VV24CI407</a:t>
            </a:r>
          </a:p>
          <a:p>
            <a:pPr marL="0" lvl="0" indent="0" algn="just">
              <a:lnSpc>
                <a:spcPts val="3710"/>
              </a:lnSpc>
              <a:spcBef>
                <a:spcPct val="0"/>
              </a:spcBef>
            </a:pPr>
            <a:endParaRPr lang="en-US" sz="2650" dirty="0">
              <a:solidFill>
                <a:srgbClr val="000000"/>
              </a:solidFill>
              <a:latin typeface="DM Sans"/>
              <a:ea typeface="DM Sans"/>
              <a:cs typeface="DM Sans"/>
              <a:sym typeface="DM Sans"/>
            </a:endParaRPr>
          </a:p>
        </p:txBody>
      </p:sp>
      <p:sp>
        <p:nvSpPr>
          <p:cNvPr id="7" name="TextBox 7"/>
          <p:cNvSpPr txBox="1"/>
          <p:nvPr/>
        </p:nvSpPr>
        <p:spPr>
          <a:xfrm>
            <a:off x="11271327" y="5708538"/>
            <a:ext cx="5283104" cy="3084259"/>
          </a:xfrm>
          <a:prstGeom prst="rect">
            <a:avLst/>
          </a:prstGeom>
        </p:spPr>
        <p:txBody>
          <a:bodyPr lIns="0" tIns="0" rIns="0" bIns="0" rtlCol="0" anchor="t">
            <a:spAutoFit/>
          </a:bodyPr>
          <a:lstStyle/>
          <a:p>
            <a:pPr algn="ctr">
              <a:lnSpc>
                <a:spcPts val="5697"/>
              </a:lnSpc>
            </a:pPr>
            <a:r>
              <a:rPr lang="en-US" sz="2649" b="1" dirty="0">
                <a:solidFill>
                  <a:srgbClr val="000000"/>
                </a:solidFill>
                <a:latin typeface="DM Sans Bold"/>
                <a:ea typeface="DM Sans Bold"/>
                <a:cs typeface="DM Sans Bold"/>
                <a:sym typeface="DM Sans Bold"/>
              </a:rPr>
              <a:t>UNDER THE GUIDANCE OF</a:t>
            </a:r>
          </a:p>
          <a:p>
            <a:pPr algn="ctr">
              <a:lnSpc>
                <a:spcPts val="4107"/>
              </a:lnSpc>
            </a:pPr>
            <a:r>
              <a:rPr lang="en-US" sz="2649" dirty="0">
                <a:solidFill>
                  <a:srgbClr val="000000"/>
                </a:solidFill>
                <a:latin typeface="DM Sans"/>
                <a:ea typeface="DM Sans"/>
                <a:cs typeface="DM Sans"/>
                <a:sym typeface="DM Sans"/>
              </a:rPr>
              <a:t>Prof. Harshith V</a:t>
            </a:r>
          </a:p>
          <a:p>
            <a:pPr algn="ctr">
              <a:lnSpc>
                <a:spcPts val="4107"/>
              </a:lnSpc>
            </a:pPr>
            <a:r>
              <a:rPr lang="en-US" sz="2649" dirty="0">
                <a:solidFill>
                  <a:srgbClr val="000000"/>
                </a:solidFill>
                <a:latin typeface="DM Sans"/>
                <a:ea typeface="DM Sans"/>
                <a:cs typeface="DM Sans"/>
                <a:sym typeface="DM Sans"/>
              </a:rPr>
              <a:t>Assistant Professor</a:t>
            </a:r>
          </a:p>
          <a:p>
            <a:pPr algn="ctr">
              <a:lnSpc>
                <a:spcPts val="4107"/>
              </a:lnSpc>
            </a:pPr>
            <a:r>
              <a:rPr lang="en-US" sz="2649" dirty="0">
                <a:solidFill>
                  <a:srgbClr val="000000"/>
                </a:solidFill>
                <a:latin typeface="DM Sans"/>
                <a:ea typeface="DM Sans"/>
                <a:cs typeface="DM Sans"/>
                <a:sym typeface="DM Sans"/>
              </a:rPr>
              <a:t> Dept. of CSE(AI&amp;ML), VVCE</a:t>
            </a:r>
          </a:p>
          <a:p>
            <a:pPr algn="ctr">
              <a:lnSpc>
                <a:spcPts val="2941"/>
              </a:lnSpc>
            </a:pPr>
            <a:endParaRPr lang="en-US" sz="2649" dirty="0">
              <a:solidFill>
                <a:srgbClr val="000000"/>
              </a:solidFill>
              <a:latin typeface="DM Sans"/>
              <a:ea typeface="DM Sans"/>
              <a:cs typeface="DM Sans"/>
              <a:sym typeface="DM Sans"/>
            </a:endParaRPr>
          </a:p>
          <a:p>
            <a:pPr algn="ctr">
              <a:lnSpc>
                <a:spcPts val="2941"/>
              </a:lnSpc>
              <a:spcBef>
                <a:spcPct val="0"/>
              </a:spcBef>
            </a:pPr>
            <a:endParaRPr lang="en-US" sz="2649" dirty="0">
              <a:solidFill>
                <a:srgbClr val="000000"/>
              </a:solidFill>
              <a:latin typeface="DM Sans"/>
              <a:ea typeface="DM Sans"/>
              <a:cs typeface="DM Sans"/>
              <a:sym typeface="DM Sans"/>
            </a:endParaRPr>
          </a:p>
        </p:txBody>
      </p:sp>
      <p:sp>
        <p:nvSpPr>
          <p:cNvPr id="8" name="TextBox 8"/>
          <p:cNvSpPr txBox="1"/>
          <p:nvPr/>
        </p:nvSpPr>
        <p:spPr>
          <a:xfrm>
            <a:off x="3683518" y="885825"/>
            <a:ext cx="10620640" cy="1349883"/>
          </a:xfrm>
          <a:prstGeom prst="rect">
            <a:avLst/>
          </a:prstGeom>
        </p:spPr>
        <p:txBody>
          <a:bodyPr lIns="0" tIns="0" rIns="0" bIns="0" rtlCol="0" anchor="t">
            <a:spAutoFit/>
          </a:bodyPr>
          <a:lstStyle/>
          <a:p>
            <a:pPr algn="ctr">
              <a:lnSpc>
                <a:spcPts val="3591"/>
              </a:lnSpc>
            </a:pPr>
            <a:r>
              <a:rPr lang="en-US" sz="2100">
                <a:solidFill>
                  <a:srgbClr val="000000"/>
                </a:solidFill>
                <a:latin typeface="Times New Roman"/>
                <a:ea typeface="Times New Roman"/>
                <a:cs typeface="Times New Roman"/>
                <a:sym typeface="Times New Roman"/>
              </a:rPr>
              <a:t>Affiliated by VTU and approved by AICTE Accredited by NAAC &amp; NBA with ‘A’ grade</a:t>
            </a:r>
          </a:p>
          <a:p>
            <a:pPr algn="ctr">
              <a:lnSpc>
                <a:spcPts val="3591"/>
              </a:lnSpc>
            </a:pPr>
            <a:r>
              <a:rPr lang="en-US" sz="2100">
                <a:solidFill>
                  <a:srgbClr val="000000"/>
                </a:solidFill>
                <a:latin typeface="Times New Roman"/>
                <a:ea typeface="Times New Roman"/>
                <a:cs typeface="Times New Roman"/>
                <a:sym typeface="Times New Roman"/>
              </a:rPr>
              <a:t>Gokulam 3rd stage, Mysuru , Karnataka.</a:t>
            </a:r>
          </a:p>
          <a:p>
            <a:pPr algn="ctr">
              <a:lnSpc>
                <a:spcPts val="3591"/>
              </a:lnSpc>
            </a:pPr>
            <a:endParaRPr lang="en-US" sz="2100">
              <a:solidFill>
                <a:srgbClr val="000000"/>
              </a:solidFill>
              <a:latin typeface="Times New Roman"/>
              <a:ea typeface="Times New Roman"/>
              <a:cs typeface="Times New Roman"/>
              <a:sym typeface="Times New Roman"/>
            </a:endParaRPr>
          </a:p>
        </p:txBody>
      </p:sp>
      <p:sp>
        <p:nvSpPr>
          <p:cNvPr id="9" name="TextBox 9"/>
          <p:cNvSpPr txBox="1"/>
          <p:nvPr/>
        </p:nvSpPr>
        <p:spPr>
          <a:xfrm>
            <a:off x="1677729" y="2418433"/>
            <a:ext cx="16353576" cy="1069339"/>
          </a:xfrm>
          <a:prstGeom prst="rect">
            <a:avLst/>
          </a:prstGeom>
        </p:spPr>
        <p:txBody>
          <a:bodyPr lIns="0" tIns="0" rIns="0" bIns="0" rtlCol="0" anchor="t">
            <a:spAutoFit/>
          </a:bodyPr>
          <a:lstStyle/>
          <a:p>
            <a:pPr algn="just">
              <a:lnSpc>
                <a:spcPts val="4060"/>
              </a:lnSpc>
            </a:pPr>
            <a:r>
              <a:rPr lang="en-US" sz="2900" b="1">
                <a:solidFill>
                  <a:srgbClr val="000000"/>
                </a:solidFill>
                <a:latin typeface="Times New Roman Bold"/>
                <a:ea typeface="Times New Roman Bold"/>
                <a:cs typeface="Times New Roman Bold"/>
                <a:sym typeface="Times New Roman Bold"/>
              </a:rPr>
              <a:t>                               Department: CSE(Artificial Engineering &amp; Machine Learning)</a:t>
            </a:r>
          </a:p>
          <a:p>
            <a:pPr marL="0" lvl="0" indent="0" algn="just">
              <a:lnSpc>
                <a:spcPts val="4060"/>
              </a:lnSpc>
              <a:spcBef>
                <a:spcPct val="0"/>
              </a:spcBef>
            </a:pPr>
            <a:endParaRPr lang="en-US" sz="2900" b="1">
              <a:solidFill>
                <a:srgbClr val="000000"/>
              </a:solidFill>
              <a:latin typeface="Times New Roman Bold"/>
              <a:ea typeface="Times New Roman Bold"/>
              <a:cs typeface="Times New Roman Bold"/>
              <a:sym typeface="Times New Roman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14381224" y="7574679"/>
            <a:ext cx="7415398" cy="3565095"/>
            <a:chOff x="0" y="0"/>
            <a:chExt cx="660400" cy="317500"/>
          </a:xfrm>
        </p:grpSpPr>
        <p:sp>
          <p:nvSpPr>
            <p:cNvPr id="3" name="Freeform 3"/>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5" name="AutoShape 5"/>
          <p:cNvSpPr/>
          <p:nvPr/>
        </p:nvSpPr>
        <p:spPr>
          <a:xfrm>
            <a:off x="13918610" y="8394229"/>
            <a:ext cx="5185216" cy="5132702"/>
          </a:xfrm>
          <a:prstGeom prst="line">
            <a:avLst/>
          </a:prstGeom>
          <a:ln w="28575" cap="flat">
            <a:solidFill>
              <a:srgbClr val="8CA9AD"/>
            </a:solidFill>
            <a:prstDash val="solid"/>
            <a:headEnd type="none" w="sm" len="sm"/>
            <a:tailEnd type="none" w="sm" len="sm"/>
          </a:ln>
        </p:spPr>
      </p:sp>
      <p:sp>
        <p:nvSpPr>
          <p:cNvPr id="6" name="AutoShape 6"/>
          <p:cNvSpPr/>
          <p:nvPr/>
        </p:nvSpPr>
        <p:spPr>
          <a:xfrm>
            <a:off x="13704664" y="8706905"/>
            <a:ext cx="5038853" cy="5038853"/>
          </a:xfrm>
          <a:prstGeom prst="line">
            <a:avLst/>
          </a:prstGeom>
          <a:ln w="28575" cap="flat">
            <a:solidFill>
              <a:srgbClr val="8CA9AD"/>
            </a:solidFill>
            <a:prstDash val="solid"/>
            <a:headEnd type="none" w="sm" len="sm"/>
            <a:tailEnd type="none" w="sm" len="sm"/>
          </a:ln>
        </p:spPr>
      </p:sp>
      <p:sp>
        <p:nvSpPr>
          <p:cNvPr id="7" name="AutoShape 7"/>
          <p:cNvSpPr/>
          <p:nvPr/>
        </p:nvSpPr>
        <p:spPr>
          <a:xfrm>
            <a:off x="13525062" y="9065375"/>
            <a:ext cx="4867141" cy="4867141"/>
          </a:xfrm>
          <a:prstGeom prst="line">
            <a:avLst/>
          </a:prstGeom>
          <a:ln w="28575" cap="flat">
            <a:solidFill>
              <a:srgbClr val="8CA9AD"/>
            </a:solidFill>
            <a:prstDash val="solid"/>
            <a:headEnd type="none" w="sm" len="sm"/>
            <a:tailEnd type="none" w="sm" len="sm"/>
          </a:ln>
        </p:spPr>
      </p:sp>
      <p:sp>
        <p:nvSpPr>
          <p:cNvPr id="8" name="AutoShape 8"/>
          <p:cNvSpPr/>
          <p:nvPr/>
        </p:nvSpPr>
        <p:spPr>
          <a:xfrm>
            <a:off x="13398407" y="9451643"/>
            <a:ext cx="4690515" cy="4690515"/>
          </a:xfrm>
          <a:prstGeom prst="line">
            <a:avLst/>
          </a:prstGeom>
          <a:ln w="28575" cap="flat">
            <a:solidFill>
              <a:srgbClr val="8CA9AD"/>
            </a:solidFill>
            <a:prstDash val="solid"/>
            <a:headEnd type="none" w="sm" len="sm"/>
            <a:tailEnd type="none" w="sm" len="sm"/>
          </a:ln>
        </p:spPr>
      </p:sp>
      <p:sp>
        <p:nvSpPr>
          <p:cNvPr id="9" name="AutoShape 9"/>
          <p:cNvSpPr/>
          <p:nvPr/>
        </p:nvSpPr>
        <p:spPr>
          <a:xfrm>
            <a:off x="13254553" y="9891320"/>
            <a:ext cx="4347674" cy="4347674"/>
          </a:xfrm>
          <a:prstGeom prst="line">
            <a:avLst/>
          </a:prstGeom>
          <a:ln w="28575" cap="flat">
            <a:solidFill>
              <a:srgbClr val="8CA9AD"/>
            </a:solidFill>
            <a:prstDash val="solid"/>
            <a:headEnd type="none" w="sm" len="sm"/>
            <a:tailEnd type="none" w="sm" len="sm"/>
          </a:ln>
        </p:spPr>
      </p:sp>
      <p:sp>
        <p:nvSpPr>
          <p:cNvPr id="10" name="TextBox 10"/>
          <p:cNvSpPr txBox="1"/>
          <p:nvPr/>
        </p:nvSpPr>
        <p:spPr>
          <a:xfrm>
            <a:off x="4350443" y="726565"/>
            <a:ext cx="8980378" cy="1198258"/>
          </a:xfrm>
          <a:prstGeom prst="rect">
            <a:avLst/>
          </a:prstGeom>
        </p:spPr>
        <p:txBody>
          <a:bodyPr lIns="0" tIns="0" rIns="0" bIns="0" rtlCol="0" anchor="t">
            <a:spAutoFit/>
          </a:bodyPr>
          <a:lstStyle/>
          <a:p>
            <a:pPr algn="ctr">
              <a:lnSpc>
                <a:spcPts val="7800"/>
              </a:lnSpc>
            </a:pPr>
            <a:r>
              <a:rPr lang="en-US" sz="7800" b="1" dirty="0">
                <a:solidFill>
                  <a:srgbClr val="227C9D"/>
                </a:solidFill>
                <a:latin typeface="Times New Roman Bold"/>
                <a:ea typeface="Times New Roman Bold"/>
                <a:cs typeface="Times New Roman Bold"/>
                <a:sym typeface="Times New Roman Bold"/>
              </a:rPr>
              <a:t>INTRODUCTION</a:t>
            </a:r>
          </a:p>
        </p:txBody>
      </p:sp>
      <p:grpSp>
        <p:nvGrpSpPr>
          <p:cNvPr id="12" name="Group 12"/>
          <p:cNvGrpSpPr/>
          <p:nvPr/>
        </p:nvGrpSpPr>
        <p:grpSpPr>
          <a:xfrm rot="2700000">
            <a:off x="-1376391" y="-3093321"/>
            <a:ext cx="7415398" cy="3565095"/>
            <a:chOff x="0" y="0"/>
            <a:chExt cx="660400" cy="317500"/>
          </a:xfrm>
        </p:grpSpPr>
        <p:sp>
          <p:nvSpPr>
            <p:cNvPr id="13" name="Freeform 13"/>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14" name="TextBox 14"/>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15" name="AutoShape 15"/>
          <p:cNvSpPr/>
          <p:nvPr/>
        </p:nvSpPr>
        <p:spPr>
          <a:xfrm>
            <a:off x="-1839005" y="-2273771"/>
            <a:ext cx="5185216" cy="5132702"/>
          </a:xfrm>
          <a:prstGeom prst="line">
            <a:avLst/>
          </a:prstGeom>
          <a:ln w="28575" cap="flat">
            <a:solidFill>
              <a:srgbClr val="8CA9AD"/>
            </a:solidFill>
            <a:prstDash val="solid"/>
            <a:headEnd type="none" w="sm" len="sm"/>
            <a:tailEnd type="none" w="sm" len="sm"/>
          </a:ln>
        </p:spPr>
      </p:sp>
      <p:sp>
        <p:nvSpPr>
          <p:cNvPr id="16" name="AutoShape 16"/>
          <p:cNvSpPr/>
          <p:nvPr/>
        </p:nvSpPr>
        <p:spPr>
          <a:xfrm>
            <a:off x="-2052951" y="-1961095"/>
            <a:ext cx="5038853" cy="5038853"/>
          </a:xfrm>
          <a:prstGeom prst="line">
            <a:avLst/>
          </a:prstGeom>
          <a:ln w="28575" cap="flat">
            <a:solidFill>
              <a:srgbClr val="8CA9AD"/>
            </a:solidFill>
            <a:prstDash val="solid"/>
            <a:headEnd type="none" w="sm" len="sm"/>
            <a:tailEnd type="none" w="sm" len="sm"/>
          </a:ln>
        </p:spPr>
      </p:sp>
      <p:sp>
        <p:nvSpPr>
          <p:cNvPr id="17" name="AutoShape 17"/>
          <p:cNvSpPr/>
          <p:nvPr/>
        </p:nvSpPr>
        <p:spPr>
          <a:xfrm>
            <a:off x="-2232553" y="-1602625"/>
            <a:ext cx="4867141" cy="4867141"/>
          </a:xfrm>
          <a:prstGeom prst="line">
            <a:avLst/>
          </a:prstGeom>
          <a:ln w="28575" cap="flat">
            <a:solidFill>
              <a:srgbClr val="8CA9AD"/>
            </a:solidFill>
            <a:prstDash val="solid"/>
            <a:headEnd type="none" w="sm" len="sm"/>
            <a:tailEnd type="none" w="sm" len="sm"/>
          </a:ln>
        </p:spPr>
      </p:sp>
      <p:sp>
        <p:nvSpPr>
          <p:cNvPr id="18" name="AutoShape 18"/>
          <p:cNvSpPr/>
          <p:nvPr/>
        </p:nvSpPr>
        <p:spPr>
          <a:xfrm>
            <a:off x="-2359208" y="-1216357"/>
            <a:ext cx="4690515" cy="4690515"/>
          </a:xfrm>
          <a:prstGeom prst="line">
            <a:avLst/>
          </a:prstGeom>
          <a:ln w="28575" cap="flat">
            <a:solidFill>
              <a:srgbClr val="8CA9AD"/>
            </a:solidFill>
            <a:prstDash val="solid"/>
            <a:headEnd type="none" w="sm" len="sm"/>
            <a:tailEnd type="none" w="sm" len="sm"/>
          </a:ln>
        </p:spPr>
      </p:sp>
      <p:sp>
        <p:nvSpPr>
          <p:cNvPr id="19" name="AutoShape 19"/>
          <p:cNvSpPr/>
          <p:nvPr/>
        </p:nvSpPr>
        <p:spPr>
          <a:xfrm>
            <a:off x="-2503062" y="-776680"/>
            <a:ext cx="4347674" cy="4347674"/>
          </a:xfrm>
          <a:prstGeom prst="line">
            <a:avLst/>
          </a:prstGeom>
          <a:ln w="28575" cap="flat">
            <a:solidFill>
              <a:srgbClr val="8CA9AD"/>
            </a:solidFill>
            <a:prstDash val="solid"/>
            <a:headEnd type="none" w="sm" len="sm"/>
            <a:tailEnd type="none" w="sm" len="sm"/>
          </a:ln>
        </p:spPr>
      </p:sp>
      <p:sp>
        <p:nvSpPr>
          <p:cNvPr id="20" name="AutoShape 20"/>
          <p:cNvSpPr/>
          <p:nvPr/>
        </p:nvSpPr>
        <p:spPr>
          <a:xfrm>
            <a:off x="-2623881" y="-332957"/>
            <a:ext cx="3963599" cy="3985594"/>
          </a:xfrm>
          <a:prstGeom prst="line">
            <a:avLst/>
          </a:prstGeom>
          <a:ln w="28575" cap="flat">
            <a:solidFill>
              <a:srgbClr val="8CA9AD"/>
            </a:solidFill>
            <a:prstDash val="solid"/>
            <a:headEnd type="none" w="sm" len="sm"/>
            <a:tailEnd type="none" w="sm" len="sm"/>
          </a:ln>
        </p:spPr>
      </p:sp>
      <p:sp>
        <p:nvSpPr>
          <p:cNvPr id="21" name="AutoShape 21"/>
          <p:cNvSpPr/>
          <p:nvPr/>
        </p:nvSpPr>
        <p:spPr>
          <a:xfrm>
            <a:off x="-2598114" y="228677"/>
            <a:ext cx="3377485" cy="3360058"/>
          </a:xfrm>
          <a:prstGeom prst="line">
            <a:avLst/>
          </a:prstGeom>
          <a:ln w="28575" cap="flat">
            <a:solidFill>
              <a:srgbClr val="8CA9AD"/>
            </a:solidFill>
            <a:prstDash val="solid"/>
            <a:headEnd type="none" w="sm" len="sm"/>
            <a:tailEnd type="none" w="sm" len="sm"/>
          </a:ln>
        </p:spPr>
      </p:sp>
      <p:sp>
        <p:nvSpPr>
          <p:cNvPr id="22" name="AutoShape 22"/>
          <p:cNvSpPr/>
          <p:nvPr/>
        </p:nvSpPr>
        <p:spPr>
          <a:xfrm>
            <a:off x="-2509797" y="905760"/>
            <a:ext cx="2628598" cy="2671969"/>
          </a:xfrm>
          <a:prstGeom prst="line">
            <a:avLst/>
          </a:prstGeom>
          <a:ln w="28575" cap="flat">
            <a:solidFill>
              <a:srgbClr val="8CA9AD"/>
            </a:solidFill>
            <a:prstDash val="solid"/>
            <a:headEnd type="none" w="sm" len="sm"/>
            <a:tailEnd type="none" w="sm" len="sm"/>
          </a:ln>
        </p:spPr>
      </p:sp>
      <p:sp>
        <p:nvSpPr>
          <p:cNvPr id="23" name="Freeform 23"/>
          <p:cNvSpPr/>
          <p:nvPr/>
        </p:nvSpPr>
        <p:spPr>
          <a:xfrm>
            <a:off x="17204191"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p:cNvSpPr/>
          <p:nvPr/>
        </p:nvSpPr>
        <p:spPr>
          <a:xfrm>
            <a:off x="17005114"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p:cNvSpPr/>
          <p:nvPr/>
        </p:nvSpPr>
        <p:spPr>
          <a:xfrm rot="5400000">
            <a:off x="1028700"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p:cNvSpPr/>
          <p:nvPr/>
        </p:nvSpPr>
        <p:spPr>
          <a:xfrm>
            <a:off x="17659708" y="194186"/>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p:cNvSpPr/>
          <p:nvPr/>
        </p:nvSpPr>
        <p:spPr>
          <a:xfrm rot="5400000" flipH="1" flipV="1">
            <a:off x="17259300" y="102870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p:cNvSpPr/>
          <p:nvPr/>
        </p:nvSpPr>
        <p:spPr>
          <a:xfrm rot="-10800000">
            <a:off x="1028700" y="100012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p:cNvSpPr/>
          <p:nvPr/>
        </p:nvSpPr>
        <p:spPr>
          <a:xfrm rot="5400000" flipH="1" flipV="1">
            <a:off x="-55109" y="90576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Freeform 30"/>
          <p:cNvSpPr/>
          <p:nvPr/>
        </p:nvSpPr>
        <p:spPr>
          <a:xfrm rot="-10800000" flipH="1" flipV="1">
            <a:off x="-55109" y="-83684"/>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p:cNvSpPr/>
          <p:nvPr/>
        </p:nvSpPr>
        <p:spPr>
          <a:xfrm>
            <a:off x="17746096" y="841015"/>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Freeform 32"/>
          <p:cNvSpPr/>
          <p:nvPr/>
        </p:nvSpPr>
        <p:spPr>
          <a:xfrm>
            <a:off x="0"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3" name="Freeform 33"/>
          <p:cNvSpPr/>
          <p:nvPr/>
        </p:nvSpPr>
        <p:spPr>
          <a:xfrm rot="-10800000">
            <a:off x="0"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4" name="Freeform 34"/>
          <p:cNvSpPr/>
          <p:nvPr/>
        </p:nvSpPr>
        <p:spPr>
          <a:xfrm rot="-5400000">
            <a:off x="15921305" y="816500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Freeform 35"/>
          <p:cNvSpPr/>
          <p:nvPr/>
        </p:nvSpPr>
        <p:spPr>
          <a:xfrm rot="-10800000">
            <a:off x="15921305"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p:cNvSpPr/>
          <p:nvPr/>
        </p:nvSpPr>
        <p:spPr>
          <a:xfrm rot="5400000">
            <a:off x="17005114"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4">
            <a:extLst>
              <a:ext uri="{FF2B5EF4-FFF2-40B4-BE49-F238E27FC236}">
                <a16:creationId xmlns:a16="http://schemas.microsoft.com/office/drawing/2014/main" id="{35760FA2-5766-1A39-6E4C-B8A8CB46D676}"/>
              </a:ext>
            </a:extLst>
          </p:cNvPr>
          <p:cNvSpPr/>
          <p:nvPr/>
        </p:nvSpPr>
        <p:spPr>
          <a:xfrm>
            <a:off x="16286823" y="8913035"/>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10"/>
            <a:stretch>
              <a:fillRect l="-636332" t="-3636" b="-15051"/>
            </a:stretch>
          </a:blipFill>
        </p:spPr>
      </p:sp>
      <p:sp>
        <p:nvSpPr>
          <p:cNvPr id="11" name="TextBox 10">
            <a:extLst>
              <a:ext uri="{FF2B5EF4-FFF2-40B4-BE49-F238E27FC236}">
                <a16:creationId xmlns:a16="http://schemas.microsoft.com/office/drawing/2014/main" id="{9FBE8617-D502-4E3A-939E-09333E02DBB4}"/>
              </a:ext>
            </a:extLst>
          </p:cNvPr>
          <p:cNvSpPr txBox="1"/>
          <p:nvPr/>
        </p:nvSpPr>
        <p:spPr>
          <a:xfrm>
            <a:off x="1988466" y="3577192"/>
            <a:ext cx="12834801" cy="6370975"/>
          </a:xfrm>
          <a:prstGeom prst="rect">
            <a:avLst/>
          </a:prstGeom>
          <a:noFill/>
        </p:spPr>
        <p:txBody>
          <a:bodyPr wrap="square" rtlCol="0">
            <a:spAutoFit/>
          </a:bodyPr>
          <a:lstStyle/>
          <a:p>
            <a:pPr marL="457200" indent="-457200" algn="l">
              <a:buFont typeface="Arial" panose="020B0604020202020204" pitchFamily="34" charset="0"/>
              <a:buChar char="•"/>
            </a:pPr>
            <a:r>
              <a:rPr lang="en-US" sz="3400" b="0" i="0" dirty="0">
                <a:effectLst/>
              </a:rPr>
              <a:t>Large Language Models (LLMs) have achieved remarkable progress in natural language understanding and generation. They can solve mathematical problems, write code, and answer complex reasoning questions. However, despite their fluency, they often produce logically inconsistent outputs during multi-step reasoning tasks.</a:t>
            </a:r>
          </a:p>
          <a:p>
            <a:pPr marL="457200" indent="-457200" algn="l">
              <a:buFont typeface="Arial" panose="020B0604020202020204" pitchFamily="34" charset="0"/>
              <a:buChar char="•"/>
            </a:pPr>
            <a:endParaRPr lang="en-US" sz="3400" dirty="0"/>
          </a:p>
          <a:p>
            <a:pPr marL="457200" indent="-457200" algn="l">
              <a:buFont typeface="Arial" panose="020B0604020202020204" pitchFamily="34" charset="0"/>
              <a:buChar char="•"/>
            </a:pPr>
            <a:r>
              <a:rPr lang="en-US" sz="3400" b="0" i="0" dirty="0">
                <a:effectLst/>
              </a:rPr>
              <a:t>This limitation arises because LLMs rely on probabilistic next-token prediction rather than explicit logical validation. As AI systems are deployed in sensitive domains like healthcare, finance, and law, reducing hallucinations and improving reasoning reliability </a:t>
            </a:r>
          </a:p>
          <a:p>
            <a:pPr algn="l"/>
            <a:r>
              <a:rPr lang="en-US" sz="3400" b="0" i="0" dirty="0">
                <a:effectLst/>
              </a:rPr>
              <a:t>     becomes a critical research challenge.</a:t>
            </a:r>
          </a:p>
          <a:p>
            <a:endParaRPr lang="en-IN" sz="3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8114E-9400-3116-6022-3BFA19CBF8D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014146A-0681-9087-71BB-466CADF1942A}"/>
              </a:ext>
            </a:extLst>
          </p:cNvPr>
          <p:cNvGrpSpPr/>
          <p:nvPr/>
        </p:nvGrpSpPr>
        <p:grpSpPr>
          <a:xfrm rot="2700000">
            <a:off x="14381224" y="7574679"/>
            <a:ext cx="7415398" cy="3565095"/>
            <a:chOff x="0" y="0"/>
            <a:chExt cx="660400" cy="317500"/>
          </a:xfrm>
        </p:grpSpPr>
        <p:sp>
          <p:nvSpPr>
            <p:cNvPr id="3" name="Freeform 3">
              <a:extLst>
                <a:ext uri="{FF2B5EF4-FFF2-40B4-BE49-F238E27FC236}">
                  <a16:creationId xmlns:a16="http://schemas.microsoft.com/office/drawing/2014/main" id="{DB6205D6-51A2-71E0-240F-6A12B5B31DF5}"/>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a:extLst>
                <a:ext uri="{FF2B5EF4-FFF2-40B4-BE49-F238E27FC236}">
                  <a16:creationId xmlns:a16="http://schemas.microsoft.com/office/drawing/2014/main" id="{1548401D-0247-134C-4C15-9AF2A16A288F}"/>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5" name="AutoShape 5">
            <a:extLst>
              <a:ext uri="{FF2B5EF4-FFF2-40B4-BE49-F238E27FC236}">
                <a16:creationId xmlns:a16="http://schemas.microsoft.com/office/drawing/2014/main" id="{E3940B94-B37D-2625-CC1A-70A21A0D563D}"/>
              </a:ext>
            </a:extLst>
          </p:cNvPr>
          <p:cNvSpPr/>
          <p:nvPr/>
        </p:nvSpPr>
        <p:spPr>
          <a:xfrm>
            <a:off x="13918610" y="8394229"/>
            <a:ext cx="5185216" cy="5132702"/>
          </a:xfrm>
          <a:prstGeom prst="line">
            <a:avLst/>
          </a:prstGeom>
          <a:ln w="28575" cap="flat">
            <a:solidFill>
              <a:srgbClr val="8CA9AD"/>
            </a:solidFill>
            <a:prstDash val="solid"/>
            <a:headEnd type="none" w="sm" len="sm"/>
            <a:tailEnd type="none" w="sm" len="sm"/>
          </a:ln>
        </p:spPr>
      </p:sp>
      <p:sp>
        <p:nvSpPr>
          <p:cNvPr id="6" name="AutoShape 6">
            <a:extLst>
              <a:ext uri="{FF2B5EF4-FFF2-40B4-BE49-F238E27FC236}">
                <a16:creationId xmlns:a16="http://schemas.microsoft.com/office/drawing/2014/main" id="{86976DF5-8913-1F55-AA5F-01BF355B9331}"/>
              </a:ext>
            </a:extLst>
          </p:cNvPr>
          <p:cNvSpPr/>
          <p:nvPr/>
        </p:nvSpPr>
        <p:spPr>
          <a:xfrm>
            <a:off x="13704664" y="8706905"/>
            <a:ext cx="5038853" cy="5038853"/>
          </a:xfrm>
          <a:prstGeom prst="line">
            <a:avLst/>
          </a:prstGeom>
          <a:ln w="28575" cap="flat">
            <a:solidFill>
              <a:srgbClr val="8CA9AD"/>
            </a:solidFill>
            <a:prstDash val="solid"/>
            <a:headEnd type="none" w="sm" len="sm"/>
            <a:tailEnd type="none" w="sm" len="sm"/>
          </a:ln>
        </p:spPr>
      </p:sp>
      <p:sp>
        <p:nvSpPr>
          <p:cNvPr id="7" name="AutoShape 7">
            <a:extLst>
              <a:ext uri="{FF2B5EF4-FFF2-40B4-BE49-F238E27FC236}">
                <a16:creationId xmlns:a16="http://schemas.microsoft.com/office/drawing/2014/main" id="{1512312E-C31A-C55E-BE55-3CFC00C785E4}"/>
              </a:ext>
            </a:extLst>
          </p:cNvPr>
          <p:cNvSpPr/>
          <p:nvPr/>
        </p:nvSpPr>
        <p:spPr>
          <a:xfrm>
            <a:off x="13525062" y="9065375"/>
            <a:ext cx="4867141" cy="4867141"/>
          </a:xfrm>
          <a:prstGeom prst="line">
            <a:avLst/>
          </a:prstGeom>
          <a:ln w="28575" cap="flat">
            <a:solidFill>
              <a:srgbClr val="8CA9AD"/>
            </a:solidFill>
            <a:prstDash val="solid"/>
            <a:headEnd type="none" w="sm" len="sm"/>
            <a:tailEnd type="none" w="sm" len="sm"/>
          </a:ln>
        </p:spPr>
      </p:sp>
      <p:sp>
        <p:nvSpPr>
          <p:cNvPr id="8" name="AutoShape 8">
            <a:extLst>
              <a:ext uri="{FF2B5EF4-FFF2-40B4-BE49-F238E27FC236}">
                <a16:creationId xmlns:a16="http://schemas.microsoft.com/office/drawing/2014/main" id="{020A1C4E-B44F-0BCB-E52F-77A78523BE65}"/>
              </a:ext>
            </a:extLst>
          </p:cNvPr>
          <p:cNvSpPr/>
          <p:nvPr/>
        </p:nvSpPr>
        <p:spPr>
          <a:xfrm>
            <a:off x="13398407" y="9451643"/>
            <a:ext cx="4690515" cy="4690515"/>
          </a:xfrm>
          <a:prstGeom prst="line">
            <a:avLst/>
          </a:prstGeom>
          <a:ln w="28575" cap="flat">
            <a:solidFill>
              <a:srgbClr val="8CA9AD"/>
            </a:solidFill>
            <a:prstDash val="solid"/>
            <a:headEnd type="none" w="sm" len="sm"/>
            <a:tailEnd type="none" w="sm" len="sm"/>
          </a:ln>
        </p:spPr>
      </p:sp>
      <p:sp>
        <p:nvSpPr>
          <p:cNvPr id="9" name="AutoShape 9">
            <a:extLst>
              <a:ext uri="{FF2B5EF4-FFF2-40B4-BE49-F238E27FC236}">
                <a16:creationId xmlns:a16="http://schemas.microsoft.com/office/drawing/2014/main" id="{D794C3B6-8074-8450-DC3E-990A916D3775}"/>
              </a:ext>
            </a:extLst>
          </p:cNvPr>
          <p:cNvSpPr/>
          <p:nvPr/>
        </p:nvSpPr>
        <p:spPr>
          <a:xfrm>
            <a:off x="13254553" y="9891320"/>
            <a:ext cx="4347674" cy="4347674"/>
          </a:xfrm>
          <a:prstGeom prst="line">
            <a:avLst/>
          </a:prstGeom>
          <a:ln w="28575" cap="flat">
            <a:solidFill>
              <a:srgbClr val="8CA9AD"/>
            </a:solidFill>
            <a:prstDash val="solid"/>
            <a:headEnd type="none" w="sm" len="sm"/>
            <a:tailEnd type="none" w="sm" len="sm"/>
          </a:ln>
        </p:spPr>
      </p:sp>
      <p:sp>
        <p:nvSpPr>
          <p:cNvPr id="10" name="TextBox 10">
            <a:extLst>
              <a:ext uri="{FF2B5EF4-FFF2-40B4-BE49-F238E27FC236}">
                <a16:creationId xmlns:a16="http://schemas.microsoft.com/office/drawing/2014/main" id="{E53BD0C9-892D-41FB-453A-D1AAF76FAA76}"/>
              </a:ext>
            </a:extLst>
          </p:cNvPr>
          <p:cNvSpPr txBox="1"/>
          <p:nvPr/>
        </p:nvSpPr>
        <p:spPr>
          <a:xfrm>
            <a:off x="4350443" y="726565"/>
            <a:ext cx="8980378" cy="1000274"/>
          </a:xfrm>
          <a:prstGeom prst="rect">
            <a:avLst/>
          </a:prstGeom>
        </p:spPr>
        <p:txBody>
          <a:bodyPr lIns="0" tIns="0" rIns="0" bIns="0" rtlCol="0" anchor="t">
            <a:spAutoFit/>
          </a:bodyPr>
          <a:lstStyle/>
          <a:p>
            <a:pPr algn="ctr">
              <a:lnSpc>
                <a:spcPts val="7800"/>
              </a:lnSpc>
            </a:pPr>
            <a:r>
              <a:rPr lang="en-US" sz="7800" b="1" dirty="0">
                <a:solidFill>
                  <a:srgbClr val="227C9D"/>
                </a:solidFill>
                <a:latin typeface="Times New Roman Bold"/>
                <a:ea typeface="Times New Roman Bold"/>
                <a:cs typeface="Times New Roman Bold"/>
                <a:sym typeface="Times New Roman Bold"/>
              </a:rPr>
              <a:t>Problem Statement</a:t>
            </a:r>
          </a:p>
        </p:txBody>
      </p:sp>
      <p:grpSp>
        <p:nvGrpSpPr>
          <p:cNvPr id="12" name="Group 12">
            <a:extLst>
              <a:ext uri="{FF2B5EF4-FFF2-40B4-BE49-F238E27FC236}">
                <a16:creationId xmlns:a16="http://schemas.microsoft.com/office/drawing/2014/main" id="{257E576F-4A36-3F86-C372-1E12BE57F0BA}"/>
              </a:ext>
            </a:extLst>
          </p:cNvPr>
          <p:cNvGrpSpPr/>
          <p:nvPr/>
        </p:nvGrpSpPr>
        <p:grpSpPr>
          <a:xfrm rot="2700000">
            <a:off x="-1376391" y="-3093321"/>
            <a:ext cx="7415398" cy="3565095"/>
            <a:chOff x="0" y="0"/>
            <a:chExt cx="660400" cy="317500"/>
          </a:xfrm>
        </p:grpSpPr>
        <p:sp>
          <p:nvSpPr>
            <p:cNvPr id="13" name="Freeform 13">
              <a:extLst>
                <a:ext uri="{FF2B5EF4-FFF2-40B4-BE49-F238E27FC236}">
                  <a16:creationId xmlns:a16="http://schemas.microsoft.com/office/drawing/2014/main" id="{7178DB27-9CBB-31AF-A8D6-5527DDB1BAA2}"/>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14" name="TextBox 14">
              <a:extLst>
                <a:ext uri="{FF2B5EF4-FFF2-40B4-BE49-F238E27FC236}">
                  <a16:creationId xmlns:a16="http://schemas.microsoft.com/office/drawing/2014/main" id="{B05323F3-AA06-2238-A10F-7059E889D1C7}"/>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15" name="AutoShape 15">
            <a:extLst>
              <a:ext uri="{FF2B5EF4-FFF2-40B4-BE49-F238E27FC236}">
                <a16:creationId xmlns:a16="http://schemas.microsoft.com/office/drawing/2014/main" id="{5628551C-68A4-20B8-2CD0-7C33BCE4DB8B}"/>
              </a:ext>
            </a:extLst>
          </p:cNvPr>
          <p:cNvSpPr/>
          <p:nvPr/>
        </p:nvSpPr>
        <p:spPr>
          <a:xfrm>
            <a:off x="-1839005" y="-2273771"/>
            <a:ext cx="5185216" cy="5132702"/>
          </a:xfrm>
          <a:prstGeom prst="line">
            <a:avLst/>
          </a:prstGeom>
          <a:ln w="28575" cap="flat">
            <a:solidFill>
              <a:srgbClr val="8CA9AD"/>
            </a:solidFill>
            <a:prstDash val="solid"/>
            <a:headEnd type="none" w="sm" len="sm"/>
            <a:tailEnd type="none" w="sm" len="sm"/>
          </a:ln>
        </p:spPr>
      </p:sp>
      <p:sp>
        <p:nvSpPr>
          <p:cNvPr id="16" name="AutoShape 16">
            <a:extLst>
              <a:ext uri="{FF2B5EF4-FFF2-40B4-BE49-F238E27FC236}">
                <a16:creationId xmlns:a16="http://schemas.microsoft.com/office/drawing/2014/main" id="{10D23D93-695A-E183-8A48-EC45BCBDA3B2}"/>
              </a:ext>
            </a:extLst>
          </p:cNvPr>
          <p:cNvSpPr/>
          <p:nvPr/>
        </p:nvSpPr>
        <p:spPr>
          <a:xfrm>
            <a:off x="-2052951" y="-1961095"/>
            <a:ext cx="5038853" cy="5038853"/>
          </a:xfrm>
          <a:prstGeom prst="line">
            <a:avLst/>
          </a:prstGeom>
          <a:ln w="28575" cap="flat">
            <a:solidFill>
              <a:srgbClr val="8CA9AD"/>
            </a:solidFill>
            <a:prstDash val="solid"/>
            <a:headEnd type="none" w="sm" len="sm"/>
            <a:tailEnd type="none" w="sm" len="sm"/>
          </a:ln>
        </p:spPr>
      </p:sp>
      <p:sp>
        <p:nvSpPr>
          <p:cNvPr id="17" name="AutoShape 17">
            <a:extLst>
              <a:ext uri="{FF2B5EF4-FFF2-40B4-BE49-F238E27FC236}">
                <a16:creationId xmlns:a16="http://schemas.microsoft.com/office/drawing/2014/main" id="{09ADB977-4F8E-2CA2-DF2C-FA9216D4DF0C}"/>
              </a:ext>
            </a:extLst>
          </p:cNvPr>
          <p:cNvSpPr/>
          <p:nvPr/>
        </p:nvSpPr>
        <p:spPr>
          <a:xfrm>
            <a:off x="-2232553" y="-1602625"/>
            <a:ext cx="4867141" cy="4867141"/>
          </a:xfrm>
          <a:prstGeom prst="line">
            <a:avLst/>
          </a:prstGeom>
          <a:ln w="28575" cap="flat">
            <a:solidFill>
              <a:srgbClr val="8CA9AD"/>
            </a:solidFill>
            <a:prstDash val="solid"/>
            <a:headEnd type="none" w="sm" len="sm"/>
            <a:tailEnd type="none" w="sm" len="sm"/>
          </a:ln>
        </p:spPr>
      </p:sp>
      <p:sp>
        <p:nvSpPr>
          <p:cNvPr id="18" name="AutoShape 18">
            <a:extLst>
              <a:ext uri="{FF2B5EF4-FFF2-40B4-BE49-F238E27FC236}">
                <a16:creationId xmlns:a16="http://schemas.microsoft.com/office/drawing/2014/main" id="{E750FEB1-032C-E839-52E5-D1CAD2B8B2AD}"/>
              </a:ext>
            </a:extLst>
          </p:cNvPr>
          <p:cNvSpPr/>
          <p:nvPr/>
        </p:nvSpPr>
        <p:spPr>
          <a:xfrm>
            <a:off x="-2359208" y="-1216357"/>
            <a:ext cx="4690515" cy="4690515"/>
          </a:xfrm>
          <a:prstGeom prst="line">
            <a:avLst/>
          </a:prstGeom>
          <a:ln w="28575" cap="flat">
            <a:solidFill>
              <a:srgbClr val="8CA9AD"/>
            </a:solidFill>
            <a:prstDash val="solid"/>
            <a:headEnd type="none" w="sm" len="sm"/>
            <a:tailEnd type="none" w="sm" len="sm"/>
          </a:ln>
        </p:spPr>
      </p:sp>
      <p:sp>
        <p:nvSpPr>
          <p:cNvPr id="19" name="AutoShape 19">
            <a:extLst>
              <a:ext uri="{FF2B5EF4-FFF2-40B4-BE49-F238E27FC236}">
                <a16:creationId xmlns:a16="http://schemas.microsoft.com/office/drawing/2014/main" id="{A9FAF869-AE3B-A633-813E-519199CF1B4E}"/>
              </a:ext>
            </a:extLst>
          </p:cNvPr>
          <p:cNvSpPr/>
          <p:nvPr/>
        </p:nvSpPr>
        <p:spPr>
          <a:xfrm>
            <a:off x="-2503062" y="-776680"/>
            <a:ext cx="4347674" cy="4347674"/>
          </a:xfrm>
          <a:prstGeom prst="line">
            <a:avLst/>
          </a:prstGeom>
          <a:ln w="28575" cap="flat">
            <a:solidFill>
              <a:srgbClr val="8CA9AD"/>
            </a:solidFill>
            <a:prstDash val="solid"/>
            <a:headEnd type="none" w="sm" len="sm"/>
            <a:tailEnd type="none" w="sm" len="sm"/>
          </a:ln>
        </p:spPr>
      </p:sp>
      <p:sp>
        <p:nvSpPr>
          <p:cNvPr id="20" name="AutoShape 20">
            <a:extLst>
              <a:ext uri="{FF2B5EF4-FFF2-40B4-BE49-F238E27FC236}">
                <a16:creationId xmlns:a16="http://schemas.microsoft.com/office/drawing/2014/main" id="{C0DEE69E-5991-6284-86BA-DB0E66AA4B52}"/>
              </a:ext>
            </a:extLst>
          </p:cNvPr>
          <p:cNvSpPr/>
          <p:nvPr/>
        </p:nvSpPr>
        <p:spPr>
          <a:xfrm>
            <a:off x="-2623881" y="-332957"/>
            <a:ext cx="3963599" cy="3985594"/>
          </a:xfrm>
          <a:prstGeom prst="line">
            <a:avLst/>
          </a:prstGeom>
          <a:ln w="28575" cap="flat">
            <a:solidFill>
              <a:srgbClr val="8CA9AD"/>
            </a:solidFill>
            <a:prstDash val="solid"/>
            <a:headEnd type="none" w="sm" len="sm"/>
            <a:tailEnd type="none" w="sm" len="sm"/>
          </a:ln>
        </p:spPr>
      </p:sp>
      <p:sp>
        <p:nvSpPr>
          <p:cNvPr id="21" name="AutoShape 21">
            <a:extLst>
              <a:ext uri="{FF2B5EF4-FFF2-40B4-BE49-F238E27FC236}">
                <a16:creationId xmlns:a16="http://schemas.microsoft.com/office/drawing/2014/main" id="{235BB366-A025-2748-7CAD-D624D20B2928}"/>
              </a:ext>
            </a:extLst>
          </p:cNvPr>
          <p:cNvSpPr/>
          <p:nvPr/>
        </p:nvSpPr>
        <p:spPr>
          <a:xfrm>
            <a:off x="-2598114" y="228677"/>
            <a:ext cx="3377485" cy="3360058"/>
          </a:xfrm>
          <a:prstGeom prst="line">
            <a:avLst/>
          </a:prstGeom>
          <a:ln w="28575" cap="flat">
            <a:solidFill>
              <a:srgbClr val="8CA9AD"/>
            </a:solidFill>
            <a:prstDash val="solid"/>
            <a:headEnd type="none" w="sm" len="sm"/>
            <a:tailEnd type="none" w="sm" len="sm"/>
          </a:ln>
        </p:spPr>
      </p:sp>
      <p:sp>
        <p:nvSpPr>
          <p:cNvPr id="22" name="AutoShape 22">
            <a:extLst>
              <a:ext uri="{FF2B5EF4-FFF2-40B4-BE49-F238E27FC236}">
                <a16:creationId xmlns:a16="http://schemas.microsoft.com/office/drawing/2014/main" id="{517EF316-3624-B89F-1025-CD4BF5DE37D3}"/>
              </a:ext>
            </a:extLst>
          </p:cNvPr>
          <p:cNvSpPr/>
          <p:nvPr/>
        </p:nvSpPr>
        <p:spPr>
          <a:xfrm>
            <a:off x="-2509797" y="905760"/>
            <a:ext cx="2628598" cy="2671969"/>
          </a:xfrm>
          <a:prstGeom prst="line">
            <a:avLst/>
          </a:prstGeom>
          <a:ln w="28575" cap="flat">
            <a:solidFill>
              <a:srgbClr val="8CA9AD"/>
            </a:solidFill>
            <a:prstDash val="solid"/>
            <a:headEnd type="none" w="sm" len="sm"/>
            <a:tailEnd type="none" w="sm" len="sm"/>
          </a:ln>
        </p:spPr>
      </p:sp>
      <p:sp>
        <p:nvSpPr>
          <p:cNvPr id="23" name="Freeform 23">
            <a:extLst>
              <a:ext uri="{FF2B5EF4-FFF2-40B4-BE49-F238E27FC236}">
                <a16:creationId xmlns:a16="http://schemas.microsoft.com/office/drawing/2014/main" id="{1DAE888E-FB6E-B3B3-8977-864191175BD5}"/>
              </a:ext>
            </a:extLst>
          </p:cNvPr>
          <p:cNvSpPr/>
          <p:nvPr/>
        </p:nvSpPr>
        <p:spPr>
          <a:xfrm>
            <a:off x="17204191"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a:extLst>
              <a:ext uri="{FF2B5EF4-FFF2-40B4-BE49-F238E27FC236}">
                <a16:creationId xmlns:a16="http://schemas.microsoft.com/office/drawing/2014/main" id="{D52EDDB1-6260-C7AA-937F-D16A574FDCE1}"/>
              </a:ext>
            </a:extLst>
          </p:cNvPr>
          <p:cNvSpPr/>
          <p:nvPr/>
        </p:nvSpPr>
        <p:spPr>
          <a:xfrm>
            <a:off x="17005114"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a:extLst>
              <a:ext uri="{FF2B5EF4-FFF2-40B4-BE49-F238E27FC236}">
                <a16:creationId xmlns:a16="http://schemas.microsoft.com/office/drawing/2014/main" id="{C8D0C0B0-17E3-0625-7D9D-B8FB4A9B9E81}"/>
              </a:ext>
            </a:extLst>
          </p:cNvPr>
          <p:cNvSpPr/>
          <p:nvPr/>
        </p:nvSpPr>
        <p:spPr>
          <a:xfrm rot="5400000">
            <a:off x="1028700"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a:extLst>
              <a:ext uri="{FF2B5EF4-FFF2-40B4-BE49-F238E27FC236}">
                <a16:creationId xmlns:a16="http://schemas.microsoft.com/office/drawing/2014/main" id="{8397BF53-4CBA-7153-D690-2E61E6BE5748}"/>
              </a:ext>
            </a:extLst>
          </p:cNvPr>
          <p:cNvSpPr/>
          <p:nvPr/>
        </p:nvSpPr>
        <p:spPr>
          <a:xfrm>
            <a:off x="17659708" y="194186"/>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a:extLst>
              <a:ext uri="{FF2B5EF4-FFF2-40B4-BE49-F238E27FC236}">
                <a16:creationId xmlns:a16="http://schemas.microsoft.com/office/drawing/2014/main" id="{D13A465A-BE1B-0B8A-44E9-6F73CC02DC28}"/>
              </a:ext>
            </a:extLst>
          </p:cNvPr>
          <p:cNvSpPr/>
          <p:nvPr/>
        </p:nvSpPr>
        <p:spPr>
          <a:xfrm rot="5400000" flipH="1" flipV="1">
            <a:off x="17259300" y="102870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a:extLst>
              <a:ext uri="{FF2B5EF4-FFF2-40B4-BE49-F238E27FC236}">
                <a16:creationId xmlns:a16="http://schemas.microsoft.com/office/drawing/2014/main" id="{EFFB21AE-2F4E-538B-75CE-0EF5B189685C}"/>
              </a:ext>
            </a:extLst>
          </p:cNvPr>
          <p:cNvSpPr/>
          <p:nvPr/>
        </p:nvSpPr>
        <p:spPr>
          <a:xfrm rot="-10800000">
            <a:off x="1028700" y="100012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a:extLst>
              <a:ext uri="{FF2B5EF4-FFF2-40B4-BE49-F238E27FC236}">
                <a16:creationId xmlns:a16="http://schemas.microsoft.com/office/drawing/2014/main" id="{BC37DF0C-839D-8B36-D709-5E71AEEC4C3E}"/>
              </a:ext>
            </a:extLst>
          </p:cNvPr>
          <p:cNvSpPr/>
          <p:nvPr/>
        </p:nvSpPr>
        <p:spPr>
          <a:xfrm rot="5400000" flipH="1" flipV="1">
            <a:off x="-55109" y="90576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Freeform 30">
            <a:extLst>
              <a:ext uri="{FF2B5EF4-FFF2-40B4-BE49-F238E27FC236}">
                <a16:creationId xmlns:a16="http://schemas.microsoft.com/office/drawing/2014/main" id="{4BAA60C6-A33F-7CF5-F440-22E2550F2332}"/>
              </a:ext>
            </a:extLst>
          </p:cNvPr>
          <p:cNvSpPr/>
          <p:nvPr/>
        </p:nvSpPr>
        <p:spPr>
          <a:xfrm rot="-10800000" flipH="1" flipV="1">
            <a:off x="-55109" y="-83684"/>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a:extLst>
              <a:ext uri="{FF2B5EF4-FFF2-40B4-BE49-F238E27FC236}">
                <a16:creationId xmlns:a16="http://schemas.microsoft.com/office/drawing/2014/main" id="{D6BB6A50-9D97-F071-8B31-92D180518979}"/>
              </a:ext>
            </a:extLst>
          </p:cNvPr>
          <p:cNvSpPr/>
          <p:nvPr/>
        </p:nvSpPr>
        <p:spPr>
          <a:xfrm>
            <a:off x="17746096" y="841015"/>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Freeform 32">
            <a:extLst>
              <a:ext uri="{FF2B5EF4-FFF2-40B4-BE49-F238E27FC236}">
                <a16:creationId xmlns:a16="http://schemas.microsoft.com/office/drawing/2014/main" id="{5DA245D9-0573-BC97-BA03-F690751A1012}"/>
              </a:ext>
            </a:extLst>
          </p:cNvPr>
          <p:cNvSpPr/>
          <p:nvPr/>
        </p:nvSpPr>
        <p:spPr>
          <a:xfrm>
            <a:off x="0"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3" name="Freeform 33">
            <a:extLst>
              <a:ext uri="{FF2B5EF4-FFF2-40B4-BE49-F238E27FC236}">
                <a16:creationId xmlns:a16="http://schemas.microsoft.com/office/drawing/2014/main" id="{28B0D89B-BF97-7BD3-C594-F180A77BC68D}"/>
              </a:ext>
            </a:extLst>
          </p:cNvPr>
          <p:cNvSpPr/>
          <p:nvPr/>
        </p:nvSpPr>
        <p:spPr>
          <a:xfrm rot="-10800000">
            <a:off x="0"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4" name="Freeform 34">
            <a:extLst>
              <a:ext uri="{FF2B5EF4-FFF2-40B4-BE49-F238E27FC236}">
                <a16:creationId xmlns:a16="http://schemas.microsoft.com/office/drawing/2014/main" id="{0C2B6F9B-791D-2BFB-7CCE-76D3A1193D76}"/>
              </a:ext>
            </a:extLst>
          </p:cNvPr>
          <p:cNvSpPr/>
          <p:nvPr/>
        </p:nvSpPr>
        <p:spPr>
          <a:xfrm rot="-5400000">
            <a:off x="15921305" y="816500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Freeform 35">
            <a:extLst>
              <a:ext uri="{FF2B5EF4-FFF2-40B4-BE49-F238E27FC236}">
                <a16:creationId xmlns:a16="http://schemas.microsoft.com/office/drawing/2014/main" id="{ADF4C4AF-2351-1F95-FEAC-B50E04140459}"/>
              </a:ext>
            </a:extLst>
          </p:cNvPr>
          <p:cNvSpPr/>
          <p:nvPr/>
        </p:nvSpPr>
        <p:spPr>
          <a:xfrm rot="-10800000">
            <a:off x="15921305"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a:extLst>
              <a:ext uri="{FF2B5EF4-FFF2-40B4-BE49-F238E27FC236}">
                <a16:creationId xmlns:a16="http://schemas.microsoft.com/office/drawing/2014/main" id="{6819C788-3BB1-51CE-EC72-17CB69DD0923}"/>
              </a:ext>
            </a:extLst>
          </p:cNvPr>
          <p:cNvSpPr/>
          <p:nvPr/>
        </p:nvSpPr>
        <p:spPr>
          <a:xfrm rot="5400000">
            <a:off x="17005114"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4">
            <a:extLst>
              <a:ext uri="{FF2B5EF4-FFF2-40B4-BE49-F238E27FC236}">
                <a16:creationId xmlns:a16="http://schemas.microsoft.com/office/drawing/2014/main" id="{EC83DD6D-C7AE-1AB6-555A-1C250D817C34}"/>
              </a:ext>
            </a:extLst>
          </p:cNvPr>
          <p:cNvSpPr/>
          <p:nvPr/>
        </p:nvSpPr>
        <p:spPr>
          <a:xfrm>
            <a:off x="16286823" y="8913035"/>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10"/>
            <a:stretch>
              <a:fillRect l="-636332" t="-3636" b="-15051"/>
            </a:stretch>
          </a:blipFill>
        </p:spPr>
      </p:sp>
      <p:sp>
        <p:nvSpPr>
          <p:cNvPr id="11" name="TextBox 10">
            <a:extLst>
              <a:ext uri="{FF2B5EF4-FFF2-40B4-BE49-F238E27FC236}">
                <a16:creationId xmlns:a16="http://schemas.microsoft.com/office/drawing/2014/main" id="{6880FCA4-92B0-4A35-A329-3A329D64C362}"/>
              </a:ext>
            </a:extLst>
          </p:cNvPr>
          <p:cNvSpPr txBox="1"/>
          <p:nvPr/>
        </p:nvSpPr>
        <p:spPr>
          <a:xfrm>
            <a:off x="2625474" y="4043874"/>
            <a:ext cx="12614526" cy="3970318"/>
          </a:xfrm>
          <a:prstGeom prst="rect">
            <a:avLst/>
          </a:prstGeom>
          <a:noFill/>
        </p:spPr>
        <p:txBody>
          <a:bodyPr wrap="square" rtlCol="0">
            <a:spAutoFit/>
          </a:bodyPr>
          <a:lstStyle/>
          <a:p>
            <a:pPr algn="ctr"/>
            <a:r>
              <a:rPr lang="en-US" sz="3600" b="0" i="0" dirty="0">
                <a:effectLst/>
              </a:rPr>
              <a:t>Large Language Models generate fluent but unreliable outputs in multi-step reasoning due to the absence of structured cognitive control. This project aims to develop a </a:t>
            </a:r>
            <a:r>
              <a:rPr lang="en-US" sz="3600" b="1" i="0" dirty="0">
                <a:effectLst/>
              </a:rPr>
              <a:t>Neuro-Symbolic System-2 Architecture</a:t>
            </a:r>
            <a:r>
              <a:rPr lang="en-US" sz="3600" b="0" i="0" dirty="0">
                <a:effectLst/>
              </a:rPr>
              <a:t> that integrates a symbolic cognitive controller (ACT-R) with an LLM to enforce step-by-step logical reasoning and significantly reduce hallucinations.</a:t>
            </a:r>
          </a:p>
          <a:p>
            <a:pPr algn="ctr"/>
            <a:r>
              <a:rPr lang="en-IN" sz="3600" dirty="0"/>
              <a:t> </a:t>
            </a:r>
          </a:p>
        </p:txBody>
      </p:sp>
    </p:spTree>
    <p:extLst>
      <p:ext uri="{BB962C8B-B14F-4D97-AF65-F5344CB8AC3E}">
        <p14:creationId xmlns:p14="http://schemas.microsoft.com/office/powerpoint/2010/main" val="1594940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C8291-E9AE-7C43-12A0-6801A8014C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C97A9AB-FFE3-2978-19CF-3118A294333B}"/>
              </a:ext>
            </a:extLst>
          </p:cNvPr>
          <p:cNvGrpSpPr/>
          <p:nvPr/>
        </p:nvGrpSpPr>
        <p:grpSpPr>
          <a:xfrm>
            <a:off x="-396553" y="7681865"/>
            <a:ext cx="1074191" cy="4394649"/>
            <a:chOff x="0" y="0"/>
            <a:chExt cx="282915" cy="1157438"/>
          </a:xfrm>
        </p:grpSpPr>
        <p:sp>
          <p:nvSpPr>
            <p:cNvPr id="3" name="Freeform 3">
              <a:extLst>
                <a:ext uri="{FF2B5EF4-FFF2-40B4-BE49-F238E27FC236}">
                  <a16:creationId xmlns:a16="http://schemas.microsoft.com/office/drawing/2014/main" id="{8363DC71-7065-63CA-8448-399DDBF80C13}"/>
                </a:ext>
              </a:extLst>
            </p:cNvPr>
            <p:cNvSpPr/>
            <p:nvPr/>
          </p:nvSpPr>
          <p:spPr>
            <a:xfrm>
              <a:off x="0" y="0"/>
              <a:ext cx="282915" cy="1157438"/>
            </a:xfrm>
            <a:custGeom>
              <a:avLst/>
              <a:gdLst/>
              <a:ahLst/>
              <a:cxnLst/>
              <a:rect l="l" t="t" r="r" b="b"/>
              <a:pathLst>
                <a:path w="282915" h="1157438">
                  <a:moveTo>
                    <a:pt x="141457" y="0"/>
                  </a:moveTo>
                  <a:lnTo>
                    <a:pt x="141457" y="0"/>
                  </a:lnTo>
                  <a:cubicBezTo>
                    <a:pt x="219582" y="0"/>
                    <a:pt x="282915" y="63333"/>
                    <a:pt x="282915" y="141457"/>
                  </a:cubicBezTo>
                  <a:lnTo>
                    <a:pt x="282915" y="1015981"/>
                  </a:lnTo>
                  <a:cubicBezTo>
                    <a:pt x="282915" y="1094106"/>
                    <a:pt x="219582" y="1157438"/>
                    <a:pt x="141457" y="1157438"/>
                  </a:cubicBezTo>
                  <a:lnTo>
                    <a:pt x="141457" y="1157438"/>
                  </a:lnTo>
                  <a:cubicBezTo>
                    <a:pt x="63333" y="1157438"/>
                    <a:pt x="0" y="1094106"/>
                    <a:pt x="0" y="1015981"/>
                  </a:cubicBezTo>
                  <a:lnTo>
                    <a:pt x="0" y="141457"/>
                  </a:lnTo>
                  <a:cubicBezTo>
                    <a:pt x="0" y="63333"/>
                    <a:pt x="63333" y="0"/>
                    <a:pt x="141457" y="0"/>
                  </a:cubicBezTo>
                  <a:close/>
                </a:path>
              </a:pathLst>
            </a:custGeom>
            <a:solidFill>
              <a:srgbClr val="545454"/>
            </a:solidFill>
          </p:spPr>
        </p:sp>
        <p:sp>
          <p:nvSpPr>
            <p:cNvPr id="4" name="TextBox 4">
              <a:extLst>
                <a:ext uri="{FF2B5EF4-FFF2-40B4-BE49-F238E27FC236}">
                  <a16:creationId xmlns:a16="http://schemas.microsoft.com/office/drawing/2014/main" id="{9DE897EE-093F-5E00-5AFF-922DDBAF0DDE}"/>
                </a:ext>
              </a:extLst>
            </p:cNvPr>
            <p:cNvSpPr txBox="1"/>
            <p:nvPr/>
          </p:nvSpPr>
          <p:spPr>
            <a:xfrm>
              <a:off x="0" y="19050"/>
              <a:ext cx="282915" cy="1138388"/>
            </a:xfrm>
            <a:prstGeom prst="rect">
              <a:avLst/>
            </a:prstGeom>
          </p:spPr>
          <p:txBody>
            <a:bodyPr lIns="50800" tIns="50800" rIns="50800" bIns="50800" rtlCol="0" anchor="ctr"/>
            <a:lstStyle/>
            <a:p>
              <a:pPr algn="ctr">
                <a:lnSpc>
                  <a:spcPts val="2553"/>
                </a:lnSpc>
              </a:pPr>
              <a:endParaRPr/>
            </a:p>
          </p:txBody>
        </p:sp>
      </p:grpSp>
      <p:grpSp>
        <p:nvGrpSpPr>
          <p:cNvPr id="5" name="Group 5">
            <a:extLst>
              <a:ext uri="{FF2B5EF4-FFF2-40B4-BE49-F238E27FC236}">
                <a16:creationId xmlns:a16="http://schemas.microsoft.com/office/drawing/2014/main" id="{8E8D12AE-A9C0-5AB4-0FAB-7123A7EDBBF3}"/>
              </a:ext>
            </a:extLst>
          </p:cNvPr>
          <p:cNvGrpSpPr/>
          <p:nvPr/>
        </p:nvGrpSpPr>
        <p:grpSpPr>
          <a:xfrm>
            <a:off x="17448044" y="-1899849"/>
            <a:ext cx="1074191" cy="4394649"/>
            <a:chOff x="0" y="0"/>
            <a:chExt cx="282915" cy="1157438"/>
          </a:xfrm>
        </p:grpSpPr>
        <p:sp>
          <p:nvSpPr>
            <p:cNvPr id="6" name="Freeform 6">
              <a:extLst>
                <a:ext uri="{FF2B5EF4-FFF2-40B4-BE49-F238E27FC236}">
                  <a16:creationId xmlns:a16="http://schemas.microsoft.com/office/drawing/2014/main" id="{60AB4229-E66A-90D3-378D-36F31CD63863}"/>
                </a:ext>
              </a:extLst>
            </p:cNvPr>
            <p:cNvSpPr/>
            <p:nvPr/>
          </p:nvSpPr>
          <p:spPr>
            <a:xfrm>
              <a:off x="0" y="0"/>
              <a:ext cx="282915" cy="1157438"/>
            </a:xfrm>
            <a:custGeom>
              <a:avLst/>
              <a:gdLst/>
              <a:ahLst/>
              <a:cxnLst/>
              <a:rect l="l" t="t" r="r" b="b"/>
              <a:pathLst>
                <a:path w="282915" h="1157438">
                  <a:moveTo>
                    <a:pt x="141457" y="0"/>
                  </a:moveTo>
                  <a:lnTo>
                    <a:pt x="141457" y="0"/>
                  </a:lnTo>
                  <a:cubicBezTo>
                    <a:pt x="219582" y="0"/>
                    <a:pt x="282915" y="63333"/>
                    <a:pt x="282915" y="141457"/>
                  </a:cubicBezTo>
                  <a:lnTo>
                    <a:pt x="282915" y="1015981"/>
                  </a:lnTo>
                  <a:cubicBezTo>
                    <a:pt x="282915" y="1094106"/>
                    <a:pt x="219582" y="1157438"/>
                    <a:pt x="141457" y="1157438"/>
                  </a:cubicBezTo>
                  <a:lnTo>
                    <a:pt x="141457" y="1157438"/>
                  </a:lnTo>
                  <a:cubicBezTo>
                    <a:pt x="63333" y="1157438"/>
                    <a:pt x="0" y="1094106"/>
                    <a:pt x="0" y="1015981"/>
                  </a:cubicBezTo>
                  <a:lnTo>
                    <a:pt x="0" y="141457"/>
                  </a:lnTo>
                  <a:cubicBezTo>
                    <a:pt x="0" y="63333"/>
                    <a:pt x="63333" y="0"/>
                    <a:pt x="141457" y="0"/>
                  </a:cubicBezTo>
                  <a:close/>
                </a:path>
              </a:pathLst>
            </a:custGeom>
            <a:solidFill>
              <a:srgbClr val="545454"/>
            </a:solidFill>
          </p:spPr>
        </p:sp>
        <p:sp>
          <p:nvSpPr>
            <p:cNvPr id="7" name="TextBox 7">
              <a:extLst>
                <a:ext uri="{FF2B5EF4-FFF2-40B4-BE49-F238E27FC236}">
                  <a16:creationId xmlns:a16="http://schemas.microsoft.com/office/drawing/2014/main" id="{0A0359B9-F637-6438-70CA-2B49968AC94B}"/>
                </a:ext>
              </a:extLst>
            </p:cNvPr>
            <p:cNvSpPr txBox="1"/>
            <p:nvPr/>
          </p:nvSpPr>
          <p:spPr>
            <a:xfrm>
              <a:off x="0" y="19050"/>
              <a:ext cx="282915" cy="1138388"/>
            </a:xfrm>
            <a:prstGeom prst="rect">
              <a:avLst/>
            </a:prstGeom>
          </p:spPr>
          <p:txBody>
            <a:bodyPr lIns="50800" tIns="50800" rIns="50800" bIns="50800" rtlCol="0" anchor="ctr"/>
            <a:lstStyle/>
            <a:p>
              <a:pPr algn="ctr">
                <a:lnSpc>
                  <a:spcPts val="2553"/>
                </a:lnSpc>
              </a:pPr>
              <a:endParaRPr/>
            </a:p>
          </p:txBody>
        </p:sp>
      </p:grpSp>
      <p:sp>
        <p:nvSpPr>
          <p:cNvPr id="8" name="Freeform 8">
            <a:extLst>
              <a:ext uri="{FF2B5EF4-FFF2-40B4-BE49-F238E27FC236}">
                <a16:creationId xmlns:a16="http://schemas.microsoft.com/office/drawing/2014/main" id="{2585DB66-C610-BA36-9F92-61422C664CFF}"/>
              </a:ext>
            </a:extLst>
          </p:cNvPr>
          <p:cNvSpPr/>
          <p:nvPr/>
        </p:nvSpPr>
        <p:spPr>
          <a:xfrm>
            <a:off x="-3559939" y="-2437943"/>
            <a:ext cx="5057622" cy="4377142"/>
          </a:xfrm>
          <a:custGeom>
            <a:avLst/>
            <a:gdLst/>
            <a:ahLst/>
            <a:cxnLst/>
            <a:rect l="l" t="t" r="r" b="b"/>
            <a:pathLst>
              <a:path w="5057622" h="4377142">
                <a:moveTo>
                  <a:pt x="0" y="0"/>
                </a:moveTo>
                <a:lnTo>
                  <a:pt x="5057622" y="0"/>
                </a:lnTo>
                <a:lnTo>
                  <a:pt x="5057622" y="4377142"/>
                </a:lnTo>
                <a:lnTo>
                  <a:pt x="0" y="43771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a:extLst>
              <a:ext uri="{FF2B5EF4-FFF2-40B4-BE49-F238E27FC236}">
                <a16:creationId xmlns:a16="http://schemas.microsoft.com/office/drawing/2014/main" id="{A51D55DC-3E45-A0BE-7A92-615988F5242A}"/>
              </a:ext>
            </a:extLst>
          </p:cNvPr>
          <p:cNvSpPr/>
          <p:nvPr/>
        </p:nvSpPr>
        <p:spPr>
          <a:xfrm>
            <a:off x="16547643" y="6295495"/>
            <a:ext cx="5057622" cy="4377142"/>
          </a:xfrm>
          <a:custGeom>
            <a:avLst/>
            <a:gdLst/>
            <a:ahLst/>
            <a:cxnLst/>
            <a:rect l="l" t="t" r="r" b="b"/>
            <a:pathLst>
              <a:path w="5057622" h="4377142">
                <a:moveTo>
                  <a:pt x="0" y="0"/>
                </a:moveTo>
                <a:lnTo>
                  <a:pt x="5057622" y="0"/>
                </a:lnTo>
                <a:lnTo>
                  <a:pt x="5057622" y="4377142"/>
                </a:lnTo>
                <a:lnTo>
                  <a:pt x="0" y="43771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4">
            <a:extLst>
              <a:ext uri="{FF2B5EF4-FFF2-40B4-BE49-F238E27FC236}">
                <a16:creationId xmlns:a16="http://schemas.microsoft.com/office/drawing/2014/main" id="{70FF8BA3-70DB-C6AF-470E-9303746C5FE7}"/>
              </a:ext>
            </a:extLst>
          </p:cNvPr>
          <p:cNvSpPr/>
          <p:nvPr/>
        </p:nvSpPr>
        <p:spPr>
          <a:xfrm>
            <a:off x="16304682" y="8857109"/>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4"/>
            <a:stretch>
              <a:fillRect l="-636332" t="-3636" b="-15051"/>
            </a:stretch>
          </a:blipFill>
        </p:spPr>
      </p:sp>
      <p:sp>
        <p:nvSpPr>
          <p:cNvPr id="14" name="TextBox 8">
            <a:extLst>
              <a:ext uri="{FF2B5EF4-FFF2-40B4-BE49-F238E27FC236}">
                <a16:creationId xmlns:a16="http://schemas.microsoft.com/office/drawing/2014/main" id="{CBADB53D-C6B0-E809-9FF1-B97F821A0141}"/>
              </a:ext>
            </a:extLst>
          </p:cNvPr>
          <p:cNvSpPr txBox="1"/>
          <p:nvPr/>
        </p:nvSpPr>
        <p:spPr>
          <a:xfrm>
            <a:off x="4136686" y="870686"/>
            <a:ext cx="10014627" cy="1000274"/>
          </a:xfrm>
          <a:prstGeom prst="rect">
            <a:avLst/>
          </a:prstGeom>
        </p:spPr>
        <p:txBody>
          <a:bodyPr lIns="0" tIns="0" rIns="0" bIns="0" rtlCol="0" anchor="t">
            <a:spAutoFit/>
          </a:bodyPr>
          <a:lstStyle/>
          <a:p>
            <a:pPr algn="ctr">
              <a:lnSpc>
                <a:spcPts val="7783"/>
              </a:lnSpc>
            </a:pPr>
            <a:r>
              <a:rPr lang="en-US" sz="7783" b="1" dirty="0">
                <a:solidFill>
                  <a:srgbClr val="227C9D"/>
                </a:solidFill>
                <a:latin typeface="Times New Roman Bold"/>
                <a:ea typeface="Times New Roman Bold"/>
                <a:cs typeface="Times New Roman Bold"/>
                <a:sym typeface="Times New Roman Bold"/>
              </a:rPr>
              <a:t>Objectives</a:t>
            </a:r>
          </a:p>
        </p:txBody>
      </p:sp>
      <p:sp>
        <p:nvSpPr>
          <p:cNvPr id="10" name="TextBox 9">
            <a:extLst>
              <a:ext uri="{FF2B5EF4-FFF2-40B4-BE49-F238E27FC236}">
                <a16:creationId xmlns:a16="http://schemas.microsoft.com/office/drawing/2014/main" id="{B20EFBBD-E470-4024-8671-C41D60534AEB}"/>
              </a:ext>
            </a:extLst>
          </p:cNvPr>
          <p:cNvSpPr txBox="1"/>
          <p:nvPr/>
        </p:nvSpPr>
        <p:spPr>
          <a:xfrm>
            <a:off x="1030740" y="2933700"/>
            <a:ext cx="15163800" cy="5823454"/>
          </a:xfrm>
          <a:prstGeom prst="rect">
            <a:avLst/>
          </a:prstGeom>
          <a:noFill/>
        </p:spPr>
        <p:txBody>
          <a:bodyPr wrap="square" rtlCol="0">
            <a:spAutoFit/>
          </a:bodyPr>
          <a:lstStyle/>
          <a:p>
            <a:pPr algn="l">
              <a:lnSpc>
                <a:spcPct val="150000"/>
              </a:lnSpc>
              <a:buFont typeface="Arial" panose="020B0604020202020204" pitchFamily="34" charset="0"/>
              <a:buChar char="•"/>
            </a:pPr>
            <a:r>
              <a:rPr lang="en-US" sz="3600" b="0" i="0" dirty="0">
                <a:effectLst/>
              </a:rPr>
              <a:t>Design a hybrid architecture combining LLM (System 1) and ACT-R (System 2)</a:t>
            </a:r>
          </a:p>
          <a:p>
            <a:pPr algn="l">
              <a:lnSpc>
                <a:spcPct val="150000"/>
              </a:lnSpc>
              <a:buFont typeface="Arial" panose="020B0604020202020204" pitchFamily="34" charset="0"/>
              <a:buChar char="•"/>
            </a:pPr>
            <a:r>
              <a:rPr lang="en-US" sz="3600" b="0" i="0" dirty="0">
                <a:effectLst/>
              </a:rPr>
              <a:t>Implement constrained decoding for structured logical outputs</a:t>
            </a:r>
          </a:p>
          <a:p>
            <a:pPr algn="l">
              <a:lnSpc>
                <a:spcPct val="150000"/>
              </a:lnSpc>
              <a:buFont typeface="Arial" panose="020B0604020202020204" pitchFamily="34" charset="0"/>
              <a:buChar char="•"/>
            </a:pPr>
            <a:r>
              <a:rPr lang="en-US" sz="3600" b="0" i="0" dirty="0">
                <a:effectLst/>
              </a:rPr>
              <a:t>Introduce working memory buffers for goal tracking</a:t>
            </a:r>
          </a:p>
          <a:p>
            <a:pPr algn="l">
              <a:lnSpc>
                <a:spcPct val="150000"/>
              </a:lnSpc>
              <a:buFont typeface="Arial" panose="020B0604020202020204" pitchFamily="34" charset="0"/>
              <a:buChar char="•"/>
            </a:pPr>
            <a:r>
              <a:rPr lang="en-US" sz="3600" b="0" i="0" dirty="0">
                <a:effectLst/>
              </a:rPr>
              <a:t>Validate each reasoning step using symbolic production rules</a:t>
            </a:r>
          </a:p>
          <a:p>
            <a:pPr algn="l">
              <a:lnSpc>
                <a:spcPct val="150000"/>
              </a:lnSpc>
              <a:buFont typeface="Arial" panose="020B0604020202020204" pitchFamily="34" charset="0"/>
              <a:buChar char="•"/>
            </a:pPr>
            <a:r>
              <a:rPr lang="en-US" sz="3600" b="0" i="0" dirty="0">
                <a:effectLst/>
              </a:rPr>
              <a:t>Benchmark against Chain-of-Thought prompting methods</a:t>
            </a:r>
          </a:p>
          <a:p>
            <a:pPr algn="l">
              <a:lnSpc>
                <a:spcPct val="150000"/>
              </a:lnSpc>
              <a:buFont typeface="Arial" panose="020B0604020202020204" pitchFamily="34" charset="0"/>
              <a:buChar char="•"/>
            </a:pPr>
            <a:r>
              <a:rPr lang="en-US" sz="3600" b="0" i="0" dirty="0">
                <a:effectLst/>
              </a:rPr>
              <a:t>Reduce hallucination rate in multi-step reasoning tasks</a:t>
            </a:r>
          </a:p>
          <a:p>
            <a:pPr>
              <a:lnSpc>
                <a:spcPct val="150000"/>
              </a:lnSpc>
            </a:pPr>
            <a:endParaRPr lang="en-IN" sz="3600" dirty="0"/>
          </a:p>
        </p:txBody>
      </p:sp>
    </p:spTree>
    <p:extLst>
      <p:ext uri="{BB962C8B-B14F-4D97-AF65-F5344CB8AC3E}">
        <p14:creationId xmlns:p14="http://schemas.microsoft.com/office/powerpoint/2010/main" val="902744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D26CA-8F94-4F23-9ECE-74D361B937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6D19A2C-1777-C26B-A820-6EF2838AB2E7}"/>
              </a:ext>
            </a:extLst>
          </p:cNvPr>
          <p:cNvGrpSpPr/>
          <p:nvPr/>
        </p:nvGrpSpPr>
        <p:grpSpPr>
          <a:xfrm rot="2700000">
            <a:off x="14381224" y="7574679"/>
            <a:ext cx="7415398" cy="3565095"/>
            <a:chOff x="0" y="0"/>
            <a:chExt cx="660400" cy="317500"/>
          </a:xfrm>
        </p:grpSpPr>
        <p:sp>
          <p:nvSpPr>
            <p:cNvPr id="3" name="Freeform 3">
              <a:extLst>
                <a:ext uri="{FF2B5EF4-FFF2-40B4-BE49-F238E27FC236}">
                  <a16:creationId xmlns:a16="http://schemas.microsoft.com/office/drawing/2014/main" id="{0C8F7C38-89EE-F267-EC50-DB1BED233DE4}"/>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a:extLst>
                <a:ext uri="{FF2B5EF4-FFF2-40B4-BE49-F238E27FC236}">
                  <a16:creationId xmlns:a16="http://schemas.microsoft.com/office/drawing/2014/main" id="{BE71AD5A-58C7-3BAB-DBE6-A6AE6C7BEBE0}"/>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5" name="AutoShape 5">
            <a:extLst>
              <a:ext uri="{FF2B5EF4-FFF2-40B4-BE49-F238E27FC236}">
                <a16:creationId xmlns:a16="http://schemas.microsoft.com/office/drawing/2014/main" id="{3D3D94E6-FFE0-79F0-2E48-A2884F6C8233}"/>
              </a:ext>
            </a:extLst>
          </p:cNvPr>
          <p:cNvSpPr/>
          <p:nvPr/>
        </p:nvSpPr>
        <p:spPr>
          <a:xfrm>
            <a:off x="13918610" y="8394229"/>
            <a:ext cx="5185216" cy="5132702"/>
          </a:xfrm>
          <a:prstGeom prst="line">
            <a:avLst/>
          </a:prstGeom>
          <a:ln w="28575" cap="flat">
            <a:solidFill>
              <a:srgbClr val="8CA9AD"/>
            </a:solidFill>
            <a:prstDash val="solid"/>
            <a:headEnd type="none" w="sm" len="sm"/>
            <a:tailEnd type="none" w="sm" len="sm"/>
          </a:ln>
        </p:spPr>
      </p:sp>
      <p:sp>
        <p:nvSpPr>
          <p:cNvPr id="6" name="AutoShape 6">
            <a:extLst>
              <a:ext uri="{FF2B5EF4-FFF2-40B4-BE49-F238E27FC236}">
                <a16:creationId xmlns:a16="http://schemas.microsoft.com/office/drawing/2014/main" id="{88535A73-F5E7-77B7-96A1-CB84C3F04EE5}"/>
              </a:ext>
            </a:extLst>
          </p:cNvPr>
          <p:cNvSpPr/>
          <p:nvPr/>
        </p:nvSpPr>
        <p:spPr>
          <a:xfrm>
            <a:off x="13704664" y="8706905"/>
            <a:ext cx="5038853" cy="5038853"/>
          </a:xfrm>
          <a:prstGeom prst="line">
            <a:avLst/>
          </a:prstGeom>
          <a:ln w="28575" cap="flat">
            <a:solidFill>
              <a:srgbClr val="8CA9AD"/>
            </a:solidFill>
            <a:prstDash val="solid"/>
            <a:headEnd type="none" w="sm" len="sm"/>
            <a:tailEnd type="none" w="sm" len="sm"/>
          </a:ln>
        </p:spPr>
      </p:sp>
      <p:sp>
        <p:nvSpPr>
          <p:cNvPr id="7" name="AutoShape 7">
            <a:extLst>
              <a:ext uri="{FF2B5EF4-FFF2-40B4-BE49-F238E27FC236}">
                <a16:creationId xmlns:a16="http://schemas.microsoft.com/office/drawing/2014/main" id="{48779B72-3994-53AA-EC59-55736EA1E850}"/>
              </a:ext>
            </a:extLst>
          </p:cNvPr>
          <p:cNvSpPr/>
          <p:nvPr/>
        </p:nvSpPr>
        <p:spPr>
          <a:xfrm>
            <a:off x="13525062" y="9065375"/>
            <a:ext cx="4867141" cy="4867141"/>
          </a:xfrm>
          <a:prstGeom prst="line">
            <a:avLst/>
          </a:prstGeom>
          <a:ln w="28575" cap="flat">
            <a:solidFill>
              <a:srgbClr val="8CA9AD"/>
            </a:solidFill>
            <a:prstDash val="solid"/>
            <a:headEnd type="none" w="sm" len="sm"/>
            <a:tailEnd type="none" w="sm" len="sm"/>
          </a:ln>
        </p:spPr>
      </p:sp>
      <p:sp>
        <p:nvSpPr>
          <p:cNvPr id="8" name="AutoShape 8">
            <a:extLst>
              <a:ext uri="{FF2B5EF4-FFF2-40B4-BE49-F238E27FC236}">
                <a16:creationId xmlns:a16="http://schemas.microsoft.com/office/drawing/2014/main" id="{5199C89B-0B85-2C98-45D6-0188638C81A1}"/>
              </a:ext>
            </a:extLst>
          </p:cNvPr>
          <p:cNvSpPr/>
          <p:nvPr/>
        </p:nvSpPr>
        <p:spPr>
          <a:xfrm>
            <a:off x="13398407" y="9451643"/>
            <a:ext cx="4690515" cy="4690515"/>
          </a:xfrm>
          <a:prstGeom prst="line">
            <a:avLst/>
          </a:prstGeom>
          <a:ln w="28575" cap="flat">
            <a:solidFill>
              <a:srgbClr val="8CA9AD"/>
            </a:solidFill>
            <a:prstDash val="solid"/>
            <a:headEnd type="none" w="sm" len="sm"/>
            <a:tailEnd type="none" w="sm" len="sm"/>
          </a:ln>
        </p:spPr>
      </p:sp>
      <p:sp>
        <p:nvSpPr>
          <p:cNvPr id="9" name="AutoShape 9">
            <a:extLst>
              <a:ext uri="{FF2B5EF4-FFF2-40B4-BE49-F238E27FC236}">
                <a16:creationId xmlns:a16="http://schemas.microsoft.com/office/drawing/2014/main" id="{8F868345-6926-6170-A4F5-4C60D9F96DF8}"/>
              </a:ext>
            </a:extLst>
          </p:cNvPr>
          <p:cNvSpPr/>
          <p:nvPr/>
        </p:nvSpPr>
        <p:spPr>
          <a:xfrm>
            <a:off x="13254553" y="9891320"/>
            <a:ext cx="4347674" cy="4347674"/>
          </a:xfrm>
          <a:prstGeom prst="line">
            <a:avLst/>
          </a:prstGeom>
          <a:ln w="28575" cap="flat">
            <a:solidFill>
              <a:srgbClr val="8CA9AD"/>
            </a:solidFill>
            <a:prstDash val="solid"/>
            <a:headEnd type="none" w="sm" len="sm"/>
            <a:tailEnd type="none" w="sm" len="sm"/>
          </a:ln>
        </p:spPr>
      </p:sp>
      <p:sp>
        <p:nvSpPr>
          <p:cNvPr id="10" name="TextBox 10">
            <a:extLst>
              <a:ext uri="{FF2B5EF4-FFF2-40B4-BE49-F238E27FC236}">
                <a16:creationId xmlns:a16="http://schemas.microsoft.com/office/drawing/2014/main" id="{E0614EE7-926D-D6F5-1D0A-58279C494DCB}"/>
              </a:ext>
            </a:extLst>
          </p:cNvPr>
          <p:cNvSpPr txBox="1"/>
          <p:nvPr/>
        </p:nvSpPr>
        <p:spPr>
          <a:xfrm>
            <a:off x="4350443" y="726565"/>
            <a:ext cx="8980378" cy="1000274"/>
          </a:xfrm>
          <a:prstGeom prst="rect">
            <a:avLst/>
          </a:prstGeom>
        </p:spPr>
        <p:txBody>
          <a:bodyPr lIns="0" tIns="0" rIns="0" bIns="0" rtlCol="0" anchor="t">
            <a:spAutoFit/>
          </a:bodyPr>
          <a:lstStyle/>
          <a:p>
            <a:pPr algn="ctr">
              <a:lnSpc>
                <a:spcPts val="7800"/>
              </a:lnSpc>
            </a:pPr>
            <a:r>
              <a:rPr lang="en-US" sz="7800" b="1" dirty="0">
                <a:solidFill>
                  <a:srgbClr val="227C9D"/>
                </a:solidFill>
                <a:latin typeface="Times New Roman Bold"/>
                <a:ea typeface="Times New Roman Bold"/>
                <a:cs typeface="Times New Roman Bold"/>
                <a:sym typeface="Times New Roman Bold"/>
              </a:rPr>
              <a:t>Motivation</a:t>
            </a:r>
          </a:p>
        </p:txBody>
      </p:sp>
      <p:grpSp>
        <p:nvGrpSpPr>
          <p:cNvPr id="12" name="Group 12">
            <a:extLst>
              <a:ext uri="{FF2B5EF4-FFF2-40B4-BE49-F238E27FC236}">
                <a16:creationId xmlns:a16="http://schemas.microsoft.com/office/drawing/2014/main" id="{5467D702-9520-67F7-A811-6E0EBAFF6539}"/>
              </a:ext>
            </a:extLst>
          </p:cNvPr>
          <p:cNvGrpSpPr/>
          <p:nvPr/>
        </p:nvGrpSpPr>
        <p:grpSpPr>
          <a:xfrm rot="2700000">
            <a:off x="-1376391" y="-3093321"/>
            <a:ext cx="7415398" cy="3565095"/>
            <a:chOff x="0" y="0"/>
            <a:chExt cx="660400" cy="317500"/>
          </a:xfrm>
        </p:grpSpPr>
        <p:sp>
          <p:nvSpPr>
            <p:cNvPr id="13" name="Freeform 13">
              <a:extLst>
                <a:ext uri="{FF2B5EF4-FFF2-40B4-BE49-F238E27FC236}">
                  <a16:creationId xmlns:a16="http://schemas.microsoft.com/office/drawing/2014/main" id="{33D65B2A-A623-3941-6EF7-BE9ECF40D6D2}"/>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14" name="TextBox 14">
              <a:extLst>
                <a:ext uri="{FF2B5EF4-FFF2-40B4-BE49-F238E27FC236}">
                  <a16:creationId xmlns:a16="http://schemas.microsoft.com/office/drawing/2014/main" id="{E2485B21-52D5-6A73-E454-2B1B64E8CE6C}"/>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15" name="AutoShape 15">
            <a:extLst>
              <a:ext uri="{FF2B5EF4-FFF2-40B4-BE49-F238E27FC236}">
                <a16:creationId xmlns:a16="http://schemas.microsoft.com/office/drawing/2014/main" id="{FF3704A2-50DF-53A0-1101-72C40C19A959}"/>
              </a:ext>
            </a:extLst>
          </p:cNvPr>
          <p:cNvSpPr/>
          <p:nvPr/>
        </p:nvSpPr>
        <p:spPr>
          <a:xfrm>
            <a:off x="-1839005" y="-2273771"/>
            <a:ext cx="5185216" cy="5132702"/>
          </a:xfrm>
          <a:prstGeom prst="line">
            <a:avLst/>
          </a:prstGeom>
          <a:ln w="28575" cap="flat">
            <a:solidFill>
              <a:srgbClr val="8CA9AD"/>
            </a:solidFill>
            <a:prstDash val="solid"/>
            <a:headEnd type="none" w="sm" len="sm"/>
            <a:tailEnd type="none" w="sm" len="sm"/>
          </a:ln>
        </p:spPr>
      </p:sp>
      <p:sp>
        <p:nvSpPr>
          <p:cNvPr id="16" name="AutoShape 16">
            <a:extLst>
              <a:ext uri="{FF2B5EF4-FFF2-40B4-BE49-F238E27FC236}">
                <a16:creationId xmlns:a16="http://schemas.microsoft.com/office/drawing/2014/main" id="{F9142BFE-704A-E4F1-AA50-C5BC72991A81}"/>
              </a:ext>
            </a:extLst>
          </p:cNvPr>
          <p:cNvSpPr/>
          <p:nvPr/>
        </p:nvSpPr>
        <p:spPr>
          <a:xfrm>
            <a:off x="-2052951" y="-1961095"/>
            <a:ext cx="5038853" cy="5038853"/>
          </a:xfrm>
          <a:prstGeom prst="line">
            <a:avLst/>
          </a:prstGeom>
          <a:ln w="28575" cap="flat">
            <a:solidFill>
              <a:srgbClr val="8CA9AD"/>
            </a:solidFill>
            <a:prstDash val="solid"/>
            <a:headEnd type="none" w="sm" len="sm"/>
            <a:tailEnd type="none" w="sm" len="sm"/>
          </a:ln>
        </p:spPr>
      </p:sp>
      <p:sp>
        <p:nvSpPr>
          <p:cNvPr id="17" name="AutoShape 17">
            <a:extLst>
              <a:ext uri="{FF2B5EF4-FFF2-40B4-BE49-F238E27FC236}">
                <a16:creationId xmlns:a16="http://schemas.microsoft.com/office/drawing/2014/main" id="{AB6F104F-F7D6-3148-2217-2CBCDEFBBB76}"/>
              </a:ext>
            </a:extLst>
          </p:cNvPr>
          <p:cNvSpPr/>
          <p:nvPr/>
        </p:nvSpPr>
        <p:spPr>
          <a:xfrm>
            <a:off x="-2232553" y="-1602625"/>
            <a:ext cx="4867141" cy="4867141"/>
          </a:xfrm>
          <a:prstGeom prst="line">
            <a:avLst/>
          </a:prstGeom>
          <a:ln w="28575" cap="flat">
            <a:solidFill>
              <a:srgbClr val="8CA9AD"/>
            </a:solidFill>
            <a:prstDash val="solid"/>
            <a:headEnd type="none" w="sm" len="sm"/>
            <a:tailEnd type="none" w="sm" len="sm"/>
          </a:ln>
        </p:spPr>
      </p:sp>
      <p:sp>
        <p:nvSpPr>
          <p:cNvPr id="18" name="AutoShape 18">
            <a:extLst>
              <a:ext uri="{FF2B5EF4-FFF2-40B4-BE49-F238E27FC236}">
                <a16:creationId xmlns:a16="http://schemas.microsoft.com/office/drawing/2014/main" id="{F1DBE451-0743-7865-31AC-E8C30B295FD1}"/>
              </a:ext>
            </a:extLst>
          </p:cNvPr>
          <p:cNvSpPr/>
          <p:nvPr/>
        </p:nvSpPr>
        <p:spPr>
          <a:xfrm>
            <a:off x="-2359208" y="-1216357"/>
            <a:ext cx="4690515" cy="4690515"/>
          </a:xfrm>
          <a:prstGeom prst="line">
            <a:avLst/>
          </a:prstGeom>
          <a:ln w="28575" cap="flat">
            <a:solidFill>
              <a:srgbClr val="8CA9AD"/>
            </a:solidFill>
            <a:prstDash val="solid"/>
            <a:headEnd type="none" w="sm" len="sm"/>
            <a:tailEnd type="none" w="sm" len="sm"/>
          </a:ln>
        </p:spPr>
      </p:sp>
      <p:sp>
        <p:nvSpPr>
          <p:cNvPr id="19" name="AutoShape 19">
            <a:extLst>
              <a:ext uri="{FF2B5EF4-FFF2-40B4-BE49-F238E27FC236}">
                <a16:creationId xmlns:a16="http://schemas.microsoft.com/office/drawing/2014/main" id="{40B6BE1F-3458-321C-7C1E-6EE9474C8D68}"/>
              </a:ext>
            </a:extLst>
          </p:cNvPr>
          <p:cNvSpPr/>
          <p:nvPr/>
        </p:nvSpPr>
        <p:spPr>
          <a:xfrm>
            <a:off x="-2503062" y="-776680"/>
            <a:ext cx="4347674" cy="4347674"/>
          </a:xfrm>
          <a:prstGeom prst="line">
            <a:avLst/>
          </a:prstGeom>
          <a:ln w="28575" cap="flat">
            <a:solidFill>
              <a:srgbClr val="8CA9AD"/>
            </a:solidFill>
            <a:prstDash val="solid"/>
            <a:headEnd type="none" w="sm" len="sm"/>
            <a:tailEnd type="none" w="sm" len="sm"/>
          </a:ln>
        </p:spPr>
      </p:sp>
      <p:sp>
        <p:nvSpPr>
          <p:cNvPr id="20" name="AutoShape 20">
            <a:extLst>
              <a:ext uri="{FF2B5EF4-FFF2-40B4-BE49-F238E27FC236}">
                <a16:creationId xmlns:a16="http://schemas.microsoft.com/office/drawing/2014/main" id="{8FC1576E-A249-DC1A-07B1-6DAB22573729}"/>
              </a:ext>
            </a:extLst>
          </p:cNvPr>
          <p:cNvSpPr/>
          <p:nvPr/>
        </p:nvSpPr>
        <p:spPr>
          <a:xfrm>
            <a:off x="-2623881" y="-332957"/>
            <a:ext cx="3963599" cy="3985594"/>
          </a:xfrm>
          <a:prstGeom prst="line">
            <a:avLst/>
          </a:prstGeom>
          <a:ln w="28575" cap="flat">
            <a:solidFill>
              <a:srgbClr val="8CA9AD"/>
            </a:solidFill>
            <a:prstDash val="solid"/>
            <a:headEnd type="none" w="sm" len="sm"/>
            <a:tailEnd type="none" w="sm" len="sm"/>
          </a:ln>
        </p:spPr>
      </p:sp>
      <p:sp>
        <p:nvSpPr>
          <p:cNvPr id="21" name="AutoShape 21">
            <a:extLst>
              <a:ext uri="{FF2B5EF4-FFF2-40B4-BE49-F238E27FC236}">
                <a16:creationId xmlns:a16="http://schemas.microsoft.com/office/drawing/2014/main" id="{60FD7376-91E5-20FD-BA01-75D4C5F9BA9F}"/>
              </a:ext>
            </a:extLst>
          </p:cNvPr>
          <p:cNvSpPr/>
          <p:nvPr/>
        </p:nvSpPr>
        <p:spPr>
          <a:xfrm>
            <a:off x="-2598114" y="228677"/>
            <a:ext cx="3377485" cy="3360058"/>
          </a:xfrm>
          <a:prstGeom prst="line">
            <a:avLst/>
          </a:prstGeom>
          <a:ln w="28575" cap="flat">
            <a:solidFill>
              <a:srgbClr val="8CA9AD"/>
            </a:solidFill>
            <a:prstDash val="solid"/>
            <a:headEnd type="none" w="sm" len="sm"/>
            <a:tailEnd type="none" w="sm" len="sm"/>
          </a:ln>
        </p:spPr>
      </p:sp>
      <p:sp>
        <p:nvSpPr>
          <p:cNvPr id="22" name="AutoShape 22">
            <a:extLst>
              <a:ext uri="{FF2B5EF4-FFF2-40B4-BE49-F238E27FC236}">
                <a16:creationId xmlns:a16="http://schemas.microsoft.com/office/drawing/2014/main" id="{DD10060C-A53D-922F-F13B-F8CC5F450C2C}"/>
              </a:ext>
            </a:extLst>
          </p:cNvPr>
          <p:cNvSpPr/>
          <p:nvPr/>
        </p:nvSpPr>
        <p:spPr>
          <a:xfrm>
            <a:off x="-2509797" y="905760"/>
            <a:ext cx="2628598" cy="2671969"/>
          </a:xfrm>
          <a:prstGeom prst="line">
            <a:avLst/>
          </a:prstGeom>
          <a:ln w="28575" cap="flat">
            <a:solidFill>
              <a:srgbClr val="8CA9AD"/>
            </a:solidFill>
            <a:prstDash val="solid"/>
            <a:headEnd type="none" w="sm" len="sm"/>
            <a:tailEnd type="none" w="sm" len="sm"/>
          </a:ln>
        </p:spPr>
      </p:sp>
      <p:sp>
        <p:nvSpPr>
          <p:cNvPr id="23" name="Freeform 23">
            <a:extLst>
              <a:ext uri="{FF2B5EF4-FFF2-40B4-BE49-F238E27FC236}">
                <a16:creationId xmlns:a16="http://schemas.microsoft.com/office/drawing/2014/main" id="{F2609C84-3CEB-0171-AFA0-1B9CF7418B5F}"/>
              </a:ext>
            </a:extLst>
          </p:cNvPr>
          <p:cNvSpPr/>
          <p:nvPr/>
        </p:nvSpPr>
        <p:spPr>
          <a:xfrm>
            <a:off x="17204191"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a:extLst>
              <a:ext uri="{FF2B5EF4-FFF2-40B4-BE49-F238E27FC236}">
                <a16:creationId xmlns:a16="http://schemas.microsoft.com/office/drawing/2014/main" id="{9453C3D6-14B3-8C7B-2B28-38F5F54E96C6}"/>
              </a:ext>
            </a:extLst>
          </p:cNvPr>
          <p:cNvSpPr/>
          <p:nvPr/>
        </p:nvSpPr>
        <p:spPr>
          <a:xfrm>
            <a:off x="17005114"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a:extLst>
              <a:ext uri="{FF2B5EF4-FFF2-40B4-BE49-F238E27FC236}">
                <a16:creationId xmlns:a16="http://schemas.microsoft.com/office/drawing/2014/main" id="{926C8EAF-5046-EA98-AE37-A2BDDE8CAC76}"/>
              </a:ext>
            </a:extLst>
          </p:cNvPr>
          <p:cNvSpPr/>
          <p:nvPr/>
        </p:nvSpPr>
        <p:spPr>
          <a:xfrm rot="5400000">
            <a:off x="1028700"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a:extLst>
              <a:ext uri="{FF2B5EF4-FFF2-40B4-BE49-F238E27FC236}">
                <a16:creationId xmlns:a16="http://schemas.microsoft.com/office/drawing/2014/main" id="{40A4533B-0460-7107-9084-2B5A35A71E06}"/>
              </a:ext>
            </a:extLst>
          </p:cNvPr>
          <p:cNvSpPr/>
          <p:nvPr/>
        </p:nvSpPr>
        <p:spPr>
          <a:xfrm>
            <a:off x="17659708" y="194186"/>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a:extLst>
              <a:ext uri="{FF2B5EF4-FFF2-40B4-BE49-F238E27FC236}">
                <a16:creationId xmlns:a16="http://schemas.microsoft.com/office/drawing/2014/main" id="{DF182CC1-965C-7A4A-B0A7-73E1F2180896}"/>
              </a:ext>
            </a:extLst>
          </p:cNvPr>
          <p:cNvSpPr/>
          <p:nvPr/>
        </p:nvSpPr>
        <p:spPr>
          <a:xfrm rot="5400000" flipH="1" flipV="1">
            <a:off x="17259300" y="102870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a:extLst>
              <a:ext uri="{FF2B5EF4-FFF2-40B4-BE49-F238E27FC236}">
                <a16:creationId xmlns:a16="http://schemas.microsoft.com/office/drawing/2014/main" id="{77777867-0C73-2A22-52AC-4EB9D0E586F5}"/>
              </a:ext>
            </a:extLst>
          </p:cNvPr>
          <p:cNvSpPr/>
          <p:nvPr/>
        </p:nvSpPr>
        <p:spPr>
          <a:xfrm rot="-10800000">
            <a:off x="1028700" y="100012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a:extLst>
              <a:ext uri="{FF2B5EF4-FFF2-40B4-BE49-F238E27FC236}">
                <a16:creationId xmlns:a16="http://schemas.microsoft.com/office/drawing/2014/main" id="{82F610AB-D8CC-AA5A-A368-91883E844411}"/>
              </a:ext>
            </a:extLst>
          </p:cNvPr>
          <p:cNvSpPr/>
          <p:nvPr/>
        </p:nvSpPr>
        <p:spPr>
          <a:xfrm rot="5400000" flipH="1" flipV="1">
            <a:off x="-55109" y="90576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Freeform 30">
            <a:extLst>
              <a:ext uri="{FF2B5EF4-FFF2-40B4-BE49-F238E27FC236}">
                <a16:creationId xmlns:a16="http://schemas.microsoft.com/office/drawing/2014/main" id="{7186A657-1208-ED9F-E78B-19992784033C}"/>
              </a:ext>
            </a:extLst>
          </p:cNvPr>
          <p:cNvSpPr/>
          <p:nvPr/>
        </p:nvSpPr>
        <p:spPr>
          <a:xfrm rot="-10800000" flipH="1" flipV="1">
            <a:off x="-55109" y="-83684"/>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a:extLst>
              <a:ext uri="{FF2B5EF4-FFF2-40B4-BE49-F238E27FC236}">
                <a16:creationId xmlns:a16="http://schemas.microsoft.com/office/drawing/2014/main" id="{D6A0581E-0242-CE4E-E692-77953A018DD1}"/>
              </a:ext>
            </a:extLst>
          </p:cNvPr>
          <p:cNvSpPr/>
          <p:nvPr/>
        </p:nvSpPr>
        <p:spPr>
          <a:xfrm>
            <a:off x="17746096" y="841015"/>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Freeform 32">
            <a:extLst>
              <a:ext uri="{FF2B5EF4-FFF2-40B4-BE49-F238E27FC236}">
                <a16:creationId xmlns:a16="http://schemas.microsoft.com/office/drawing/2014/main" id="{188CA0B2-15F6-B261-23A2-2D09BE4F37AA}"/>
              </a:ext>
            </a:extLst>
          </p:cNvPr>
          <p:cNvSpPr/>
          <p:nvPr/>
        </p:nvSpPr>
        <p:spPr>
          <a:xfrm>
            <a:off x="0"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3" name="Freeform 33">
            <a:extLst>
              <a:ext uri="{FF2B5EF4-FFF2-40B4-BE49-F238E27FC236}">
                <a16:creationId xmlns:a16="http://schemas.microsoft.com/office/drawing/2014/main" id="{AE60CCAA-CF12-67DD-1D0B-79B4AB4E92FA}"/>
              </a:ext>
            </a:extLst>
          </p:cNvPr>
          <p:cNvSpPr/>
          <p:nvPr/>
        </p:nvSpPr>
        <p:spPr>
          <a:xfrm rot="-10800000">
            <a:off x="0"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4" name="Freeform 34">
            <a:extLst>
              <a:ext uri="{FF2B5EF4-FFF2-40B4-BE49-F238E27FC236}">
                <a16:creationId xmlns:a16="http://schemas.microsoft.com/office/drawing/2014/main" id="{C9446E79-3918-83CF-FC6F-B67A7B3CAA32}"/>
              </a:ext>
            </a:extLst>
          </p:cNvPr>
          <p:cNvSpPr/>
          <p:nvPr/>
        </p:nvSpPr>
        <p:spPr>
          <a:xfrm rot="-5400000">
            <a:off x="15921305" y="816500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Freeform 35">
            <a:extLst>
              <a:ext uri="{FF2B5EF4-FFF2-40B4-BE49-F238E27FC236}">
                <a16:creationId xmlns:a16="http://schemas.microsoft.com/office/drawing/2014/main" id="{A413949D-DD50-C477-2074-45E65F141E13}"/>
              </a:ext>
            </a:extLst>
          </p:cNvPr>
          <p:cNvSpPr/>
          <p:nvPr/>
        </p:nvSpPr>
        <p:spPr>
          <a:xfrm rot="-10800000">
            <a:off x="15921305"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a:extLst>
              <a:ext uri="{FF2B5EF4-FFF2-40B4-BE49-F238E27FC236}">
                <a16:creationId xmlns:a16="http://schemas.microsoft.com/office/drawing/2014/main" id="{E6557904-30E3-CDD8-98AA-B2DCC9AC4C36}"/>
              </a:ext>
            </a:extLst>
          </p:cNvPr>
          <p:cNvSpPr/>
          <p:nvPr/>
        </p:nvSpPr>
        <p:spPr>
          <a:xfrm rot="5400000">
            <a:off x="17005114"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4">
            <a:extLst>
              <a:ext uri="{FF2B5EF4-FFF2-40B4-BE49-F238E27FC236}">
                <a16:creationId xmlns:a16="http://schemas.microsoft.com/office/drawing/2014/main" id="{35BBBDD5-1184-BE64-30BA-120277BA9F4A}"/>
              </a:ext>
            </a:extLst>
          </p:cNvPr>
          <p:cNvSpPr/>
          <p:nvPr/>
        </p:nvSpPr>
        <p:spPr>
          <a:xfrm>
            <a:off x="16286823" y="8913035"/>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10"/>
            <a:stretch>
              <a:fillRect l="-636332" t="-3636" b="-15051"/>
            </a:stretch>
          </a:blipFill>
        </p:spPr>
      </p:sp>
      <p:sp>
        <p:nvSpPr>
          <p:cNvPr id="11" name="TextBox 10">
            <a:extLst>
              <a:ext uri="{FF2B5EF4-FFF2-40B4-BE49-F238E27FC236}">
                <a16:creationId xmlns:a16="http://schemas.microsoft.com/office/drawing/2014/main" id="{01DDC0E2-E953-420E-8701-ED9FA4739368}"/>
              </a:ext>
            </a:extLst>
          </p:cNvPr>
          <p:cNvSpPr txBox="1"/>
          <p:nvPr/>
        </p:nvSpPr>
        <p:spPr>
          <a:xfrm>
            <a:off x="1600200" y="3990524"/>
            <a:ext cx="16378404" cy="4992457"/>
          </a:xfrm>
          <a:prstGeom prst="rect">
            <a:avLst/>
          </a:prstGeom>
          <a:noFill/>
        </p:spPr>
        <p:txBody>
          <a:bodyPr wrap="square" rtlCol="0">
            <a:spAutoFit/>
          </a:bodyPr>
          <a:lstStyle/>
          <a:p>
            <a:pPr algn="l">
              <a:lnSpc>
                <a:spcPct val="150000"/>
              </a:lnSpc>
              <a:buFont typeface="Arial" panose="020B0604020202020204" pitchFamily="34" charset="0"/>
              <a:buChar char="•"/>
            </a:pPr>
            <a:r>
              <a:rPr lang="en-US" sz="3600" b="0" i="0" dirty="0">
                <a:effectLst/>
              </a:rPr>
              <a:t> LLM hallucinations are a major barrier to AI deployment in critical domains</a:t>
            </a:r>
          </a:p>
          <a:p>
            <a:pPr algn="l">
              <a:lnSpc>
                <a:spcPct val="150000"/>
              </a:lnSpc>
              <a:buFont typeface="Arial" panose="020B0604020202020204" pitchFamily="34" charset="0"/>
              <a:buChar char="•"/>
            </a:pPr>
            <a:r>
              <a:rPr lang="en-US" sz="3600" b="0" i="0" dirty="0">
                <a:effectLst/>
              </a:rPr>
              <a:t> Current solutions rely mainly on prompt engineering, not architectural improvements</a:t>
            </a:r>
          </a:p>
          <a:p>
            <a:pPr algn="l">
              <a:lnSpc>
                <a:spcPct val="150000"/>
              </a:lnSpc>
              <a:buFont typeface="Arial" panose="020B0604020202020204" pitchFamily="34" charset="0"/>
              <a:buChar char="•"/>
            </a:pPr>
            <a:r>
              <a:rPr lang="en-US" sz="3600" b="0" i="0" dirty="0">
                <a:effectLst/>
              </a:rPr>
              <a:t> Multi-step reasoning errors compound quickly without validation</a:t>
            </a:r>
          </a:p>
          <a:p>
            <a:pPr algn="l">
              <a:lnSpc>
                <a:spcPct val="150000"/>
              </a:lnSpc>
              <a:buFont typeface="Arial" panose="020B0604020202020204" pitchFamily="34" charset="0"/>
              <a:buChar char="•"/>
            </a:pPr>
            <a:r>
              <a:rPr lang="en-US" sz="3600" b="0" i="0" dirty="0">
                <a:effectLst/>
              </a:rPr>
              <a:t> Need for interpretable and verifiable AI systems</a:t>
            </a:r>
          </a:p>
          <a:p>
            <a:pPr algn="l">
              <a:lnSpc>
                <a:spcPct val="150000"/>
              </a:lnSpc>
              <a:buFont typeface="Arial" panose="020B0604020202020204" pitchFamily="34" charset="0"/>
              <a:buChar char="•"/>
            </a:pPr>
            <a:r>
              <a:rPr lang="en-US" sz="3600" b="0" i="0" dirty="0">
                <a:effectLst/>
              </a:rPr>
              <a:t> Growing industry focus on AI safety and alignment</a:t>
            </a:r>
          </a:p>
          <a:p>
            <a:pPr>
              <a:lnSpc>
                <a:spcPct val="150000"/>
              </a:lnSpc>
            </a:pPr>
            <a:endParaRPr lang="en-IN" sz="3600" dirty="0"/>
          </a:p>
        </p:txBody>
      </p:sp>
    </p:spTree>
    <p:extLst>
      <p:ext uri="{BB962C8B-B14F-4D97-AF65-F5344CB8AC3E}">
        <p14:creationId xmlns:p14="http://schemas.microsoft.com/office/powerpoint/2010/main" val="3106106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59043-D4E2-92F3-E1F7-EEC39892C7A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F131CDA-57A9-AF36-E266-B3F3F9B5D271}"/>
              </a:ext>
            </a:extLst>
          </p:cNvPr>
          <p:cNvGrpSpPr/>
          <p:nvPr/>
        </p:nvGrpSpPr>
        <p:grpSpPr>
          <a:xfrm rot="2700000">
            <a:off x="14381224" y="7574679"/>
            <a:ext cx="7415398" cy="3565095"/>
            <a:chOff x="0" y="0"/>
            <a:chExt cx="660400" cy="317500"/>
          </a:xfrm>
        </p:grpSpPr>
        <p:sp>
          <p:nvSpPr>
            <p:cNvPr id="3" name="Freeform 3">
              <a:extLst>
                <a:ext uri="{FF2B5EF4-FFF2-40B4-BE49-F238E27FC236}">
                  <a16:creationId xmlns:a16="http://schemas.microsoft.com/office/drawing/2014/main" id="{EAEB2DB1-D638-42B2-C310-03FD959EA41B}"/>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a:extLst>
                <a:ext uri="{FF2B5EF4-FFF2-40B4-BE49-F238E27FC236}">
                  <a16:creationId xmlns:a16="http://schemas.microsoft.com/office/drawing/2014/main" id="{8BD783EA-A5AF-8EDD-BABE-B08EE4078880}"/>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5" name="AutoShape 5">
            <a:extLst>
              <a:ext uri="{FF2B5EF4-FFF2-40B4-BE49-F238E27FC236}">
                <a16:creationId xmlns:a16="http://schemas.microsoft.com/office/drawing/2014/main" id="{80EABFD2-4D37-D074-FB48-5891B3329180}"/>
              </a:ext>
            </a:extLst>
          </p:cNvPr>
          <p:cNvSpPr/>
          <p:nvPr/>
        </p:nvSpPr>
        <p:spPr>
          <a:xfrm>
            <a:off x="13918610" y="8394229"/>
            <a:ext cx="5185216" cy="5132702"/>
          </a:xfrm>
          <a:prstGeom prst="line">
            <a:avLst/>
          </a:prstGeom>
          <a:ln w="28575" cap="flat">
            <a:solidFill>
              <a:srgbClr val="8CA9AD"/>
            </a:solidFill>
            <a:prstDash val="solid"/>
            <a:headEnd type="none" w="sm" len="sm"/>
            <a:tailEnd type="none" w="sm" len="sm"/>
          </a:ln>
        </p:spPr>
      </p:sp>
      <p:sp>
        <p:nvSpPr>
          <p:cNvPr id="6" name="AutoShape 6">
            <a:extLst>
              <a:ext uri="{FF2B5EF4-FFF2-40B4-BE49-F238E27FC236}">
                <a16:creationId xmlns:a16="http://schemas.microsoft.com/office/drawing/2014/main" id="{FB3D6DD0-5180-B9F5-E88B-26FCA172E2A7}"/>
              </a:ext>
            </a:extLst>
          </p:cNvPr>
          <p:cNvSpPr/>
          <p:nvPr/>
        </p:nvSpPr>
        <p:spPr>
          <a:xfrm>
            <a:off x="13704664" y="8706905"/>
            <a:ext cx="5038853" cy="5038853"/>
          </a:xfrm>
          <a:prstGeom prst="line">
            <a:avLst/>
          </a:prstGeom>
          <a:ln w="28575" cap="flat">
            <a:solidFill>
              <a:srgbClr val="8CA9AD"/>
            </a:solidFill>
            <a:prstDash val="solid"/>
            <a:headEnd type="none" w="sm" len="sm"/>
            <a:tailEnd type="none" w="sm" len="sm"/>
          </a:ln>
        </p:spPr>
      </p:sp>
      <p:sp>
        <p:nvSpPr>
          <p:cNvPr id="7" name="AutoShape 7">
            <a:extLst>
              <a:ext uri="{FF2B5EF4-FFF2-40B4-BE49-F238E27FC236}">
                <a16:creationId xmlns:a16="http://schemas.microsoft.com/office/drawing/2014/main" id="{41C9D07A-A4E8-D00E-8770-AB551F78449C}"/>
              </a:ext>
            </a:extLst>
          </p:cNvPr>
          <p:cNvSpPr/>
          <p:nvPr/>
        </p:nvSpPr>
        <p:spPr>
          <a:xfrm>
            <a:off x="13525062" y="9065375"/>
            <a:ext cx="4867141" cy="4867141"/>
          </a:xfrm>
          <a:prstGeom prst="line">
            <a:avLst/>
          </a:prstGeom>
          <a:ln w="28575" cap="flat">
            <a:solidFill>
              <a:srgbClr val="8CA9AD"/>
            </a:solidFill>
            <a:prstDash val="solid"/>
            <a:headEnd type="none" w="sm" len="sm"/>
            <a:tailEnd type="none" w="sm" len="sm"/>
          </a:ln>
        </p:spPr>
      </p:sp>
      <p:sp>
        <p:nvSpPr>
          <p:cNvPr id="8" name="AutoShape 8">
            <a:extLst>
              <a:ext uri="{FF2B5EF4-FFF2-40B4-BE49-F238E27FC236}">
                <a16:creationId xmlns:a16="http://schemas.microsoft.com/office/drawing/2014/main" id="{9E4587B9-E31F-2116-2C6E-DEE560C4C219}"/>
              </a:ext>
            </a:extLst>
          </p:cNvPr>
          <p:cNvSpPr/>
          <p:nvPr/>
        </p:nvSpPr>
        <p:spPr>
          <a:xfrm>
            <a:off x="13398407" y="9451643"/>
            <a:ext cx="4690515" cy="4690515"/>
          </a:xfrm>
          <a:prstGeom prst="line">
            <a:avLst/>
          </a:prstGeom>
          <a:ln w="28575" cap="flat">
            <a:solidFill>
              <a:srgbClr val="8CA9AD"/>
            </a:solidFill>
            <a:prstDash val="solid"/>
            <a:headEnd type="none" w="sm" len="sm"/>
            <a:tailEnd type="none" w="sm" len="sm"/>
          </a:ln>
        </p:spPr>
      </p:sp>
      <p:sp>
        <p:nvSpPr>
          <p:cNvPr id="9" name="AutoShape 9">
            <a:extLst>
              <a:ext uri="{FF2B5EF4-FFF2-40B4-BE49-F238E27FC236}">
                <a16:creationId xmlns:a16="http://schemas.microsoft.com/office/drawing/2014/main" id="{A7B9BC85-A849-D084-FE61-E3301E1FD7A9}"/>
              </a:ext>
            </a:extLst>
          </p:cNvPr>
          <p:cNvSpPr/>
          <p:nvPr/>
        </p:nvSpPr>
        <p:spPr>
          <a:xfrm>
            <a:off x="13254553" y="9891320"/>
            <a:ext cx="4347674" cy="4347674"/>
          </a:xfrm>
          <a:prstGeom prst="line">
            <a:avLst/>
          </a:prstGeom>
          <a:ln w="28575" cap="flat">
            <a:solidFill>
              <a:srgbClr val="8CA9AD"/>
            </a:solidFill>
            <a:prstDash val="solid"/>
            <a:headEnd type="none" w="sm" len="sm"/>
            <a:tailEnd type="none" w="sm" len="sm"/>
          </a:ln>
        </p:spPr>
      </p:sp>
      <p:sp>
        <p:nvSpPr>
          <p:cNvPr id="10" name="TextBox 10">
            <a:extLst>
              <a:ext uri="{FF2B5EF4-FFF2-40B4-BE49-F238E27FC236}">
                <a16:creationId xmlns:a16="http://schemas.microsoft.com/office/drawing/2014/main" id="{49759E38-DE66-1A3D-6F4B-D56D2E7E1B88}"/>
              </a:ext>
            </a:extLst>
          </p:cNvPr>
          <p:cNvSpPr txBox="1"/>
          <p:nvPr/>
        </p:nvSpPr>
        <p:spPr>
          <a:xfrm>
            <a:off x="4350443" y="726565"/>
            <a:ext cx="8980378" cy="1000274"/>
          </a:xfrm>
          <a:prstGeom prst="rect">
            <a:avLst/>
          </a:prstGeom>
        </p:spPr>
        <p:txBody>
          <a:bodyPr lIns="0" tIns="0" rIns="0" bIns="0" rtlCol="0" anchor="t">
            <a:spAutoFit/>
          </a:bodyPr>
          <a:lstStyle/>
          <a:p>
            <a:pPr algn="ctr">
              <a:lnSpc>
                <a:spcPts val="7800"/>
              </a:lnSpc>
            </a:pPr>
            <a:r>
              <a:rPr lang="en-US" sz="7800" b="1" dirty="0">
                <a:solidFill>
                  <a:srgbClr val="227C9D"/>
                </a:solidFill>
                <a:latin typeface="Times New Roman Bold"/>
                <a:ea typeface="Times New Roman Bold"/>
                <a:cs typeface="Times New Roman Bold"/>
                <a:sym typeface="Times New Roman Bold"/>
              </a:rPr>
              <a:t>Base Paper</a:t>
            </a:r>
          </a:p>
        </p:txBody>
      </p:sp>
      <p:grpSp>
        <p:nvGrpSpPr>
          <p:cNvPr id="12" name="Group 12">
            <a:extLst>
              <a:ext uri="{FF2B5EF4-FFF2-40B4-BE49-F238E27FC236}">
                <a16:creationId xmlns:a16="http://schemas.microsoft.com/office/drawing/2014/main" id="{33BF6E44-7953-CC33-8559-A265BCC39236}"/>
              </a:ext>
            </a:extLst>
          </p:cNvPr>
          <p:cNvGrpSpPr/>
          <p:nvPr/>
        </p:nvGrpSpPr>
        <p:grpSpPr>
          <a:xfrm rot="2700000">
            <a:off x="-1376391" y="-3093321"/>
            <a:ext cx="7415398" cy="3565095"/>
            <a:chOff x="0" y="0"/>
            <a:chExt cx="660400" cy="317500"/>
          </a:xfrm>
        </p:grpSpPr>
        <p:sp>
          <p:nvSpPr>
            <p:cNvPr id="13" name="Freeform 13">
              <a:extLst>
                <a:ext uri="{FF2B5EF4-FFF2-40B4-BE49-F238E27FC236}">
                  <a16:creationId xmlns:a16="http://schemas.microsoft.com/office/drawing/2014/main" id="{B231A415-22C9-9A85-F407-695E2806C197}"/>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14" name="TextBox 14">
              <a:extLst>
                <a:ext uri="{FF2B5EF4-FFF2-40B4-BE49-F238E27FC236}">
                  <a16:creationId xmlns:a16="http://schemas.microsoft.com/office/drawing/2014/main" id="{83BE2906-7765-C453-0B04-6C58830B5862}"/>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15" name="AutoShape 15">
            <a:extLst>
              <a:ext uri="{FF2B5EF4-FFF2-40B4-BE49-F238E27FC236}">
                <a16:creationId xmlns:a16="http://schemas.microsoft.com/office/drawing/2014/main" id="{F7A00F55-E799-7743-7DAA-D6C5B7F015C3}"/>
              </a:ext>
            </a:extLst>
          </p:cNvPr>
          <p:cNvSpPr/>
          <p:nvPr/>
        </p:nvSpPr>
        <p:spPr>
          <a:xfrm>
            <a:off x="-1839005" y="-2273771"/>
            <a:ext cx="5185216" cy="5132702"/>
          </a:xfrm>
          <a:prstGeom prst="line">
            <a:avLst/>
          </a:prstGeom>
          <a:ln w="28575" cap="flat">
            <a:solidFill>
              <a:srgbClr val="8CA9AD"/>
            </a:solidFill>
            <a:prstDash val="solid"/>
            <a:headEnd type="none" w="sm" len="sm"/>
            <a:tailEnd type="none" w="sm" len="sm"/>
          </a:ln>
        </p:spPr>
      </p:sp>
      <p:sp>
        <p:nvSpPr>
          <p:cNvPr id="16" name="AutoShape 16">
            <a:extLst>
              <a:ext uri="{FF2B5EF4-FFF2-40B4-BE49-F238E27FC236}">
                <a16:creationId xmlns:a16="http://schemas.microsoft.com/office/drawing/2014/main" id="{67755BD9-895E-D1E7-B733-D507426E0803}"/>
              </a:ext>
            </a:extLst>
          </p:cNvPr>
          <p:cNvSpPr/>
          <p:nvPr/>
        </p:nvSpPr>
        <p:spPr>
          <a:xfrm>
            <a:off x="-2052951" y="-1961095"/>
            <a:ext cx="5038853" cy="5038853"/>
          </a:xfrm>
          <a:prstGeom prst="line">
            <a:avLst/>
          </a:prstGeom>
          <a:ln w="28575" cap="flat">
            <a:solidFill>
              <a:srgbClr val="8CA9AD"/>
            </a:solidFill>
            <a:prstDash val="solid"/>
            <a:headEnd type="none" w="sm" len="sm"/>
            <a:tailEnd type="none" w="sm" len="sm"/>
          </a:ln>
        </p:spPr>
      </p:sp>
      <p:sp>
        <p:nvSpPr>
          <p:cNvPr id="17" name="AutoShape 17">
            <a:extLst>
              <a:ext uri="{FF2B5EF4-FFF2-40B4-BE49-F238E27FC236}">
                <a16:creationId xmlns:a16="http://schemas.microsoft.com/office/drawing/2014/main" id="{A62896E9-B800-7B44-FFAD-6A484348BCCB}"/>
              </a:ext>
            </a:extLst>
          </p:cNvPr>
          <p:cNvSpPr/>
          <p:nvPr/>
        </p:nvSpPr>
        <p:spPr>
          <a:xfrm>
            <a:off x="-2232553" y="-1602625"/>
            <a:ext cx="4867141" cy="4867141"/>
          </a:xfrm>
          <a:prstGeom prst="line">
            <a:avLst/>
          </a:prstGeom>
          <a:ln w="28575" cap="flat">
            <a:solidFill>
              <a:srgbClr val="8CA9AD"/>
            </a:solidFill>
            <a:prstDash val="solid"/>
            <a:headEnd type="none" w="sm" len="sm"/>
            <a:tailEnd type="none" w="sm" len="sm"/>
          </a:ln>
        </p:spPr>
      </p:sp>
      <p:sp>
        <p:nvSpPr>
          <p:cNvPr id="18" name="AutoShape 18">
            <a:extLst>
              <a:ext uri="{FF2B5EF4-FFF2-40B4-BE49-F238E27FC236}">
                <a16:creationId xmlns:a16="http://schemas.microsoft.com/office/drawing/2014/main" id="{757FBD34-4B23-27B8-3621-8599E9BB4372}"/>
              </a:ext>
            </a:extLst>
          </p:cNvPr>
          <p:cNvSpPr/>
          <p:nvPr/>
        </p:nvSpPr>
        <p:spPr>
          <a:xfrm>
            <a:off x="-2359208" y="-1216357"/>
            <a:ext cx="4690515" cy="4690515"/>
          </a:xfrm>
          <a:prstGeom prst="line">
            <a:avLst/>
          </a:prstGeom>
          <a:ln w="28575" cap="flat">
            <a:solidFill>
              <a:srgbClr val="8CA9AD"/>
            </a:solidFill>
            <a:prstDash val="solid"/>
            <a:headEnd type="none" w="sm" len="sm"/>
            <a:tailEnd type="none" w="sm" len="sm"/>
          </a:ln>
        </p:spPr>
      </p:sp>
      <p:sp>
        <p:nvSpPr>
          <p:cNvPr id="19" name="AutoShape 19">
            <a:extLst>
              <a:ext uri="{FF2B5EF4-FFF2-40B4-BE49-F238E27FC236}">
                <a16:creationId xmlns:a16="http://schemas.microsoft.com/office/drawing/2014/main" id="{BEADF7D4-1C64-9B55-3AC8-34C0CB8F26C4}"/>
              </a:ext>
            </a:extLst>
          </p:cNvPr>
          <p:cNvSpPr/>
          <p:nvPr/>
        </p:nvSpPr>
        <p:spPr>
          <a:xfrm>
            <a:off x="-2503062" y="-776680"/>
            <a:ext cx="4347674" cy="4347674"/>
          </a:xfrm>
          <a:prstGeom prst="line">
            <a:avLst/>
          </a:prstGeom>
          <a:ln w="28575" cap="flat">
            <a:solidFill>
              <a:srgbClr val="8CA9AD"/>
            </a:solidFill>
            <a:prstDash val="solid"/>
            <a:headEnd type="none" w="sm" len="sm"/>
            <a:tailEnd type="none" w="sm" len="sm"/>
          </a:ln>
        </p:spPr>
      </p:sp>
      <p:sp>
        <p:nvSpPr>
          <p:cNvPr id="20" name="AutoShape 20">
            <a:extLst>
              <a:ext uri="{FF2B5EF4-FFF2-40B4-BE49-F238E27FC236}">
                <a16:creationId xmlns:a16="http://schemas.microsoft.com/office/drawing/2014/main" id="{AE42B2B1-8710-8A65-C18A-30949BFA112B}"/>
              </a:ext>
            </a:extLst>
          </p:cNvPr>
          <p:cNvSpPr/>
          <p:nvPr/>
        </p:nvSpPr>
        <p:spPr>
          <a:xfrm>
            <a:off x="-2623881" y="-332957"/>
            <a:ext cx="3963599" cy="3985594"/>
          </a:xfrm>
          <a:prstGeom prst="line">
            <a:avLst/>
          </a:prstGeom>
          <a:ln w="28575" cap="flat">
            <a:solidFill>
              <a:srgbClr val="8CA9AD"/>
            </a:solidFill>
            <a:prstDash val="solid"/>
            <a:headEnd type="none" w="sm" len="sm"/>
            <a:tailEnd type="none" w="sm" len="sm"/>
          </a:ln>
        </p:spPr>
      </p:sp>
      <p:sp>
        <p:nvSpPr>
          <p:cNvPr id="21" name="AutoShape 21">
            <a:extLst>
              <a:ext uri="{FF2B5EF4-FFF2-40B4-BE49-F238E27FC236}">
                <a16:creationId xmlns:a16="http://schemas.microsoft.com/office/drawing/2014/main" id="{FAC693A7-2E35-E76F-299A-AAC66B397D12}"/>
              </a:ext>
            </a:extLst>
          </p:cNvPr>
          <p:cNvSpPr/>
          <p:nvPr/>
        </p:nvSpPr>
        <p:spPr>
          <a:xfrm>
            <a:off x="-2598114" y="228677"/>
            <a:ext cx="3377485" cy="3360058"/>
          </a:xfrm>
          <a:prstGeom prst="line">
            <a:avLst/>
          </a:prstGeom>
          <a:ln w="28575" cap="flat">
            <a:solidFill>
              <a:srgbClr val="8CA9AD"/>
            </a:solidFill>
            <a:prstDash val="solid"/>
            <a:headEnd type="none" w="sm" len="sm"/>
            <a:tailEnd type="none" w="sm" len="sm"/>
          </a:ln>
        </p:spPr>
      </p:sp>
      <p:sp>
        <p:nvSpPr>
          <p:cNvPr id="22" name="AutoShape 22">
            <a:extLst>
              <a:ext uri="{FF2B5EF4-FFF2-40B4-BE49-F238E27FC236}">
                <a16:creationId xmlns:a16="http://schemas.microsoft.com/office/drawing/2014/main" id="{04B798C9-8E65-7673-595A-F67FDF356835}"/>
              </a:ext>
            </a:extLst>
          </p:cNvPr>
          <p:cNvSpPr/>
          <p:nvPr/>
        </p:nvSpPr>
        <p:spPr>
          <a:xfrm>
            <a:off x="-2509797" y="905760"/>
            <a:ext cx="2628598" cy="2671969"/>
          </a:xfrm>
          <a:prstGeom prst="line">
            <a:avLst/>
          </a:prstGeom>
          <a:ln w="28575" cap="flat">
            <a:solidFill>
              <a:srgbClr val="8CA9AD"/>
            </a:solidFill>
            <a:prstDash val="solid"/>
            <a:headEnd type="none" w="sm" len="sm"/>
            <a:tailEnd type="none" w="sm" len="sm"/>
          </a:ln>
        </p:spPr>
      </p:sp>
      <p:sp>
        <p:nvSpPr>
          <p:cNvPr id="23" name="Freeform 23">
            <a:extLst>
              <a:ext uri="{FF2B5EF4-FFF2-40B4-BE49-F238E27FC236}">
                <a16:creationId xmlns:a16="http://schemas.microsoft.com/office/drawing/2014/main" id="{1A2E599E-6099-268B-F5D0-57E98A8C5AA0}"/>
              </a:ext>
            </a:extLst>
          </p:cNvPr>
          <p:cNvSpPr/>
          <p:nvPr/>
        </p:nvSpPr>
        <p:spPr>
          <a:xfrm>
            <a:off x="17204191"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a:extLst>
              <a:ext uri="{FF2B5EF4-FFF2-40B4-BE49-F238E27FC236}">
                <a16:creationId xmlns:a16="http://schemas.microsoft.com/office/drawing/2014/main" id="{5EED0A2E-A4C6-6ED3-D603-52C9FDA9DDCA}"/>
              </a:ext>
            </a:extLst>
          </p:cNvPr>
          <p:cNvSpPr/>
          <p:nvPr/>
        </p:nvSpPr>
        <p:spPr>
          <a:xfrm>
            <a:off x="17005114"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a:extLst>
              <a:ext uri="{FF2B5EF4-FFF2-40B4-BE49-F238E27FC236}">
                <a16:creationId xmlns:a16="http://schemas.microsoft.com/office/drawing/2014/main" id="{DE682765-53CF-CEF4-0272-542401092444}"/>
              </a:ext>
            </a:extLst>
          </p:cNvPr>
          <p:cNvSpPr/>
          <p:nvPr/>
        </p:nvSpPr>
        <p:spPr>
          <a:xfrm rot="5400000">
            <a:off x="1028700"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a:extLst>
              <a:ext uri="{FF2B5EF4-FFF2-40B4-BE49-F238E27FC236}">
                <a16:creationId xmlns:a16="http://schemas.microsoft.com/office/drawing/2014/main" id="{1F4F7843-DC60-26BE-7CFE-24B5756B3DCF}"/>
              </a:ext>
            </a:extLst>
          </p:cNvPr>
          <p:cNvSpPr/>
          <p:nvPr/>
        </p:nvSpPr>
        <p:spPr>
          <a:xfrm>
            <a:off x="17659708" y="194186"/>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a:extLst>
              <a:ext uri="{FF2B5EF4-FFF2-40B4-BE49-F238E27FC236}">
                <a16:creationId xmlns:a16="http://schemas.microsoft.com/office/drawing/2014/main" id="{0F9AEE23-A3CC-26BD-204C-4215AE0105F4}"/>
              </a:ext>
            </a:extLst>
          </p:cNvPr>
          <p:cNvSpPr/>
          <p:nvPr/>
        </p:nvSpPr>
        <p:spPr>
          <a:xfrm rot="5400000" flipH="1" flipV="1">
            <a:off x="17259300" y="102870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a:extLst>
              <a:ext uri="{FF2B5EF4-FFF2-40B4-BE49-F238E27FC236}">
                <a16:creationId xmlns:a16="http://schemas.microsoft.com/office/drawing/2014/main" id="{E70736AD-2DDE-5E89-4017-CAAA67A24564}"/>
              </a:ext>
            </a:extLst>
          </p:cNvPr>
          <p:cNvSpPr/>
          <p:nvPr/>
        </p:nvSpPr>
        <p:spPr>
          <a:xfrm rot="-10800000">
            <a:off x="1028700" y="100012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a:extLst>
              <a:ext uri="{FF2B5EF4-FFF2-40B4-BE49-F238E27FC236}">
                <a16:creationId xmlns:a16="http://schemas.microsoft.com/office/drawing/2014/main" id="{D31781DE-212D-4E28-6EAD-98DFF8379884}"/>
              </a:ext>
            </a:extLst>
          </p:cNvPr>
          <p:cNvSpPr/>
          <p:nvPr/>
        </p:nvSpPr>
        <p:spPr>
          <a:xfrm rot="5400000" flipH="1" flipV="1">
            <a:off x="-55109" y="90576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Freeform 30">
            <a:extLst>
              <a:ext uri="{FF2B5EF4-FFF2-40B4-BE49-F238E27FC236}">
                <a16:creationId xmlns:a16="http://schemas.microsoft.com/office/drawing/2014/main" id="{B7C25F43-0CA1-6BEB-0550-ACBC075CA22A}"/>
              </a:ext>
            </a:extLst>
          </p:cNvPr>
          <p:cNvSpPr/>
          <p:nvPr/>
        </p:nvSpPr>
        <p:spPr>
          <a:xfrm rot="-10800000" flipH="1" flipV="1">
            <a:off x="-55109" y="-83684"/>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a:extLst>
              <a:ext uri="{FF2B5EF4-FFF2-40B4-BE49-F238E27FC236}">
                <a16:creationId xmlns:a16="http://schemas.microsoft.com/office/drawing/2014/main" id="{B36F4849-33FC-F24D-AE9D-A1B2F2990131}"/>
              </a:ext>
            </a:extLst>
          </p:cNvPr>
          <p:cNvSpPr/>
          <p:nvPr/>
        </p:nvSpPr>
        <p:spPr>
          <a:xfrm>
            <a:off x="17746096" y="841015"/>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Freeform 32">
            <a:extLst>
              <a:ext uri="{FF2B5EF4-FFF2-40B4-BE49-F238E27FC236}">
                <a16:creationId xmlns:a16="http://schemas.microsoft.com/office/drawing/2014/main" id="{6D63F663-F2AC-8BF6-6A31-B19268ACC5DD}"/>
              </a:ext>
            </a:extLst>
          </p:cNvPr>
          <p:cNvSpPr/>
          <p:nvPr/>
        </p:nvSpPr>
        <p:spPr>
          <a:xfrm>
            <a:off x="0"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3" name="Freeform 33">
            <a:extLst>
              <a:ext uri="{FF2B5EF4-FFF2-40B4-BE49-F238E27FC236}">
                <a16:creationId xmlns:a16="http://schemas.microsoft.com/office/drawing/2014/main" id="{278DF6FE-B41D-EFEA-54A6-B730C7FA2DC4}"/>
              </a:ext>
            </a:extLst>
          </p:cNvPr>
          <p:cNvSpPr/>
          <p:nvPr/>
        </p:nvSpPr>
        <p:spPr>
          <a:xfrm rot="-10800000">
            <a:off x="0"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4" name="Freeform 34">
            <a:extLst>
              <a:ext uri="{FF2B5EF4-FFF2-40B4-BE49-F238E27FC236}">
                <a16:creationId xmlns:a16="http://schemas.microsoft.com/office/drawing/2014/main" id="{9375F559-1C94-5C6E-BAA8-1FBDC1D9877B}"/>
              </a:ext>
            </a:extLst>
          </p:cNvPr>
          <p:cNvSpPr/>
          <p:nvPr/>
        </p:nvSpPr>
        <p:spPr>
          <a:xfrm rot="-5400000">
            <a:off x="15921305" y="816500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Freeform 35">
            <a:extLst>
              <a:ext uri="{FF2B5EF4-FFF2-40B4-BE49-F238E27FC236}">
                <a16:creationId xmlns:a16="http://schemas.microsoft.com/office/drawing/2014/main" id="{7D90FD5B-59F4-EE7B-30BD-B3F052CF5C06}"/>
              </a:ext>
            </a:extLst>
          </p:cNvPr>
          <p:cNvSpPr/>
          <p:nvPr/>
        </p:nvSpPr>
        <p:spPr>
          <a:xfrm rot="-10800000">
            <a:off x="15921305"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a:extLst>
              <a:ext uri="{FF2B5EF4-FFF2-40B4-BE49-F238E27FC236}">
                <a16:creationId xmlns:a16="http://schemas.microsoft.com/office/drawing/2014/main" id="{9AF015B3-A82D-76E4-AA5F-44C96F7F3418}"/>
              </a:ext>
            </a:extLst>
          </p:cNvPr>
          <p:cNvSpPr/>
          <p:nvPr/>
        </p:nvSpPr>
        <p:spPr>
          <a:xfrm rot="5400000">
            <a:off x="17005114"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4">
            <a:extLst>
              <a:ext uri="{FF2B5EF4-FFF2-40B4-BE49-F238E27FC236}">
                <a16:creationId xmlns:a16="http://schemas.microsoft.com/office/drawing/2014/main" id="{9C84697B-A5DC-C272-90A0-88672321A068}"/>
              </a:ext>
            </a:extLst>
          </p:cNvPr>
          <p:cNvSpPr/>
          <p:nvPr/>
        </p:nvSpPr>
        <p:spPr>
          <a:xfrm>
            <a:off x="16286823" y="8913035"/>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10"/>
            <a:stretch>
              <a:fillRect l="-636332" t="-3636" b="-15051"/>
            </a:stretch>
          </a:blipFill>
        </p:spPr>
      </p:sp>
      <p:sp>
        <p:nvSpPr>
          <p:cNvPr id="11" name="TextBox 10">
            <a:extLst>
              <a:ext uri="{FF2B5EF4-FFF2-40B4-BE49-F238E27FC236}">
                <a16:creationId xmlns:a16="http://schemas.microsoft.com/office/drawing/2014/main" id="{22ACF4C3-EFDD-4413-848B-0E52F6064B68}"/>
              </a:ext>
            </a:extLst>
          </p:cNvPr>
          <p:cNvSpPr txBox="1"/>
          <p:nvPr/>
        </p:nvSpPr>
        <p:spPr>
          <a:xfrm>
            <a:off x="1083809" y="3703386"/>
            <a:ext cx="17479322" cy="6740307"/>
          </a:xfrm>
          <a:prstGeom prst="rect">
            <a:avLst/>
          </a:prstGeom>
          <a:noFill/>
        </p:spPr>
        <p:txBody>
          <a:bodyPr wrap="square" rtlCol="0">
            <a:spAutoFit/>
          </a:bodyPr>
          <a:lstStyle/>
          <a:p>
            <a:pPr algn="l">
              <a:lnSpc>
                <a:spcPct val="150000"/>
              </a:lnSpc>
              <a:buFont typeface="Arial" panose="020B0604020202020204" pitchFamily="34" charset="0"/>
              <a:buChar char="•"/>
            </a:pPr>
            <a:r>
              <a:rPr lang="en-US" sz="3600" b="1" i="0" dirty="0">
                <a:effectLst/>
              </a:rPr>
              <a:t>“LLM-ACTR: Integrating ACT-R Cognitive Architecture with Large Language Models”(2024)</a:t>
            </a:r>
            <a:endParaRPr lang="en-US" sz="3600" b="0" i="0" dirty="0">
              <a:effectLst/>
            </a:endParaRPr>
          </a:p>
          <a:p>
            <a:pPr algn="l">
              <a:lnSpc>
                <a:spcPct val="150000"/>
              </a:lnSpc>
              <a:buFont typeface="Arial" panose="020B0604020202020204" pitchFamily="34" charset="0"/>
              <a:buChar char="•"/>
            </a:pPr>
            <a:r>
              <a:rPr lang="en-US" sz="3600" b="0" i="0" dirty="0">
                <a:effectLst/>
              </a:rPr>
              <a:t> Research on Neuro-Symbolic AI combining reasoning and learning</a:t>
            </a:r>
          </a:p>
          <a:p>
            <a:pPr algn="l">
              <a:lnSpc>
                <a:spcPct val="150000"/>
              </a:lnSpc>
              <a:buFont typeface="Arial" panose="020B0604020202020204" pitchFamily="34" charset="0"/>
              <a:buChar char="•"/>
            </a:pPr>
            <a:r>
              <a:rPr lang="en-US" sz="3600" b="0" i="0" dirty="0">
                <a:effectLst/>
              </a:rPr>
              <a:t> Papers on Chain-of-Thought prompting and its limitations</a:t>
            </a:r>
          </a:p>
          <a:p>
            <a:pPr algn="l">
              <a:lnSpc>
                <a:spcPct val="150000"/>
              </a:lnSpc>
              <a:buFont typeface="Arial" panose="020B0604020202020204" pitchFamily="34" charset="0"/>
              <a:buChar char="•"/>
            </a:pPr>
            <a:r>
              <a:rPr lang="en-US" sz="3600" b="0" i="0" dirty="0">
                <a:effectLst/>
              </a:rPr>
              <a:t> Studies on hallucination reduction in LLMs</a:t>
            </a:r>
          </a:p>
          <a:p>
            <a:pPr algn="l"/>
            <a:endParaRPr lang="en-US" sz="3600" b="0" i="0" dirty="0">
              <a:effectLst/>
            </a:endParaRPr>
          </a:p>
          <a:p>
            <a:pPr algn="l"/>
            <a:r>
              <a:rPr lang="en-US" sz="3600" b="1" i="0" dirty="0">
                <a:effectLst/>
              </a:rPr>
              <a:t>Core Idea from Base Work:</a:t>
            </a:r>
            <a:br>
              <a:rPr lang="en-US" sz="3600" b="0" i="0" dirty="0">
                <a:effectLst/>
              </a:rPr>
            </a:br>
            <a:r>
              <a:rPr lang="en-US" sz="3600" b="0" i="0" dirty="0">
                <a:effectLst/>
              </a:rPr>
              <a:t>Hybridizing symbolic reasoning with neural networks improves </a:t>
            </a:r>
          </a:p>
          <a:p>
            <a:pPr algn="l"/>
            <a:r>
              <a:rPr lang="en-US" sz="3600" b="0" i="0" dirty="0">
                <a:effectLst/>
              </a:rPr>
              <a:t>logical consistency and grounded decision-making.</a:t>
            </a:r>
          </a:p>
          <a:p>
            <a:br>
              <a:rPr lang="en-US" sz="3600" dirty="0"/>
            </a:br>
            <a:endParaRPr lang="en-IN" sz="3600" dirty="0"/>
          </a:p>
        </p:txBody>
      </p:sp>
    </p:spTree>
    <p:extLst>
      <p:ext uri="{BB962C8B-B14F-4D97-AF65-F5344CB8AC3E}">
        <p14:creationId xmlns:p14="http://schemas.microsoft.com/office/powerpoint/2010/main" val="1283635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2A555-B8E5-3CE3-A247-5E83BB1FB25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4F6C50B-9778-09C5-568D-211C192828FA}"/>
              </a:ext>
            </a:extLst>
          </p:cNvPr>
          <p:cNvGrpSpPr/>
          <p:nvPr/>
        </p:nvGrpSpPr>
        <p:grpSpPr>
          <a:xfrm rot="2700000">
            <a:off x="14381224" y="7574679"/>
            <a:ext cx="7415398" cy="3565095"/>
            <a:chOff x="0" y="0"/>
            <a:chExt cx="660400" cy="317500"/>
          </a:xfrm>
        </p:grpSpPr>
        <p:sp>
          <p:nvSpPr>
            <p:cNvPr id="3" name="Freeform 3">
              <a:extLst>
                <a:ext uri="{FF2B5EF4-FFF2-40B4-BE49-F238E27FC236}">
                  <a16:creationId xmlns:a16="http://schemas.microsoft.com/office/drawing/2014/main" id="{EEE37752-24EF-DF0E-522C-83D51DC6DE6A}"/>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a:extLst>
                <a:ext uri="{FF2B5EF4-FFF2-40B4-BE49-F238E27FC236}">
                  <a16:creationId xmlns:a16="http://schemas.microsoft.com/office/drawing/2014/main" id="{559B1BDB-633F-FA15-3A7A-8506DBE3C48C}"/>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5" name="AutoShape 5">
            <a:extLst>
              <a:ext uri="{FF2B5EF4-FFF2-40B4-BE49-F238E27FC236}">
                <a16:creationId xmlns:a16="http://schemas.microsoft.com/office/drawing/2014/main" id="{9E85E1DB-7AE3-D0B9-7B5A-8AD11BB39F62}"/>
              </a:ext>
            </a:extLst>
          </p:cNvPr>
          <p:cNvSpPr/>
          <p:nvPr/>
        </p:nvSpPr>
        <p:spPr>
          <a:xfrm>
            <a:off x="13918610" y="8394229"/>
            <a:ext cx="5185216" cy="5132702"/>
          </a:xfrm>
          <a:prstGeom prst="line">
            <a:avLst/>
          </a:prstGeom>
          <a:ln w="28575" cap="flat">
            <a:solidFill>
              <a:srgbClr val="8CA9AD"/>
            </a:solidFill>
            <a:prstDash val="solid"/>
            <a:headEnd type="none" w="sm" len="sm"/>
            <a:tailEnd type="none" w="sm" len="sm"/>
          </a:ln>
        </p:spPr>
      </p:sp>
      <p:sp>
        <p:nvSpPr>
          <p:cNvPr id="6" name="AutoShape 6">
            <a:extLst>
              <a:ext uri="{FF2B5EF4-FFF2-40B4-BE49-F238E27FC236}">
                <a16:creationId xmlns:a16="http://schemas.microsoft.com/office/drawing/2014/main" id="{959CED45-7314-F79A-16EE-D3B732BD6178}"/>
              </a:ext>
            </a:extLst>
          </p:cNvPr>
          <p:cNvSpPr/>
          <p:nvPr/>
        </p:nvSpPr>
        <p:spPr>
          <a:xfrm>
            <a:off x="13704664" y="8706905"/>
            <a:ext cx="5038853" cy="5038853"/>
          </a:xfrm>
          <a:prstGeom prst="line">
            <a:avLst/>
          </a:prstGeom>
          <a:ln w="28575" cap="flat">
            <a:solidFill>
              <a:srgbClr val="8CA9AD"/>
            </a:solidFill>
            <a:prstDash val="solid"/>
            <a:headEnd type="none" w="sm" len="sm"/>
            <a:tailEnd type="none" w="sm" len="sm"/>
          </a:ln>
        </p:spPr>
      </p:sp>
      <p:sp>
        <p:nvSpPr>
          <p:cNvPr id="7" name="AutoShape 7">
            <a:extLst>
              <a:ext uri="{FF2B5EF4-FFF2-40B4-BE49-F238E27FC236}">
                <a16:creationId xmlns:a16="http://schemas.microsoft.com/office/drawing/2014/main" id="{41255A18-DF2B-76FF-0C4C-82007CB56EAA}"/>
              </a:ext>
            </a:extLst>
          </p:cNvPr>
          <p:cNvSpPr/>
          <p:nvPr/>
        </p:nvSpPr>
        <p:spPr>
          <a:xfrm>
            <a:off x="13525062" y="9065375"/>
            <a:ext cx="4867141" cy="4867141"/>
          </a:xfrm>
          <a:prstGeom prst="line">
            <a:avLst/>
          </a:prstGeom>
          <a:ln w="28575" cap="flat">
            <a:solidFill>
              <a:srgbClr val="8CA9AD"/>
            </a:solidFill>
            <a:prstDash val="solid"/>
            <a:headEnd type="none" w="sm" len="sm"/>
            <a:tailEnd type="none" w="sm" len="sm"/>
          </a:ln>
        </p:spPr>
      </p:sp>
      <p:sp>
        <p:nvSpPr>
          <p:cNvPr id="8" name="AutoShape 8">
            <a:extLst>
              <a:ext uri="{FF2B5EF4-FFF2-40B4-BE49-F238E27FC236}">
                <a16:creationId xmlns:a16="http://schemas.microsoft.com/office/drawing/2014/main" id="{FEF2973D-7C02-E515-E971-1AF5421C59D0}"/>
              </a:ext>
            </a:extLst>
          </p:cNvPr>
          <p:cNvSpPr/>
          <p:nvPr/>
        </p:nvSpPr>
        <p:spPr>
          <a:xfrm>
            <a:off x="13398407" y="9451643"/>
            <a:ext cx="4690515" cy="4690515"/>
          </a:xfrm>
          <a:prstGeom prst="line">
            <a:avLst/>
          </a:prstGeom>
          <a:ln w="28575" cap="flat">
            <a:solidFill>
              <a:srgbClr val="8CA9AD"/>
            </a:solidFill>
            <a:prstDash val="solid"/>
            <a:headEnd type="none" w="sm" len="sm"/>
            <a:tailEnd type="none" w="sm" len="sm"/>
          </a:ln>
        </p:spPr>
      </p:sp>
      <p:sp>
        <p:nvSpPr>
          <p:cNvPr id="9" name="AutoShape 9">
            <a:extLst>
              <a:ext uri="{FF2B5EF4-FFF2-40B4-BE49-F238E27FC236}">
                <a16:creationId xmlns:a16="http://schemas.microsoft.com/office/drawing/2014/main" id="{D4712CEF-095F-6BFC-9B3E-D637681B584D}"/>
              </a:ext>
            </a:extLst>
          </p:cNvPr>
          <p:cNvSpPr/>
          <p:nvPr/>
        </p:nvSpPr>
        <p:spPr>
          <a:xfrm>
            <a:off x="13254553" y="9891320"/>
            <a:ext cx="4347674" cy="4347674"/>
          </a:xfrm>
          <a:prstGeom prst="line">
            <a:avLst/>
          </a:prstGeom>
          <a:ln w="28575" cap="flat">
            <a:solidFill>
              <a:srgbClr val="8CA9AD"/>
            </a:solidFill>
            <a:prstDash val="solid"/>
            <a:headEnd type="none" w="sm" len="sm"/>
            <a:tailEnd type="none" w="sm" len="sm"/>
          </a:ln>
        </p:spPr>
      </p:sp>
      <p:sp>
        <p:nvSpPr>
          <p:cNvPr id="10" name="TextBox 10">
            <a:extLst>
              <a:ext uri="{FF2B5EF4-FFF2-40B4-BE49-F238E27FC236}">
                <a16:creationId xmlns:a16="http://schemas.microsoft.com/office/drawing/2014/main" id="{55D7C05D-8F11-BA02-BDF2-059284380901}"/>
              </a:ext>
            </a:extLst>
          </p:cNvPr>
          <p:cNvSpPr txBox="1"/>
          <p:nvPr/>
        </p:nvSpPr>
        <p:spPr>
          <a:xfrm>
            <a:off x="4350443" y="726565"/>
            <a:ext cx="8980378" cy="1000274"/>
          </a:xfrm>
          <a:prstGeom prst="rect">
            <a:avLst/>
          </a:prstGeom>
        </p:spPr>
        <p:txBody>
          <a:bodyPr lIns="0" tIns="0" rIns="0" bIns="0" rtlCol="0" anchor="t">
            <a:spAutoFit/>
          </a:bodyPr>
          <a:lstStyle/>
          <a:p>
            <a:pPr algn="ctr">
              <a:lnSpc>
                <a:spcPts val="7800"/>
              </a:lnSpc>
            </a:pPr>
            <a:r>
              <a:rPr lang="en-US" sz="7800" b="1" dirty="0">
                <a:solidFill>
                  <a:srgbClr val="227C9D"/>
                </a:solidFill>
                <a:latin typeface="Times New Roman Bold"/>
                <a:ea typeface="Times New Roman Bold"/>
                <a:cs typeface="Times New Roman Bold"/>
                <a:sym typeface="Times New Roman Bold"/>
              </a:rPr>
              <a:t>Scope</a:t>
            </a:r>
          </a:p>
        </p:txBody>
      </p:sp>
      <p:grpSp>
        <p:nvGrpSpPr>
          <p:cNvPr id="12" name="Group 12">
            <a:extLst>
              <a:ext uri="{FF2B5EF4-FFF2-40B4-BE49-F238E27FC236}">
                <a16:creationId xmlns:a16="http://schemas.microsoft.com/office/drawing/2014/main" id="{66A4F0BE-1B9D-7C66-0EE9-57817F4FB0AE}"/>
              </a:ext>
            </a:extLst>
          </p:cNvPr>
          <p:cNvGrpSpPr/>
          <p:nvPr/>
        </p:nvGrpSpPr>
        <p:grpSpPr>
          <a:xfrm rot="2700000">
            <a:off x="-1376391" y="-3093321"/>
            <a:ext cx="7415398" cy="3565095"/>
            <a:chOff x="0" y="0"/>
            <a:chExt cx="660400" cy="317500"/>
          </a:xfrm>
        </p:grpSpPr>
        <p:sp>
          <p:nvSpPr>
            <p:cNvPr id="13" name="Freeform 13">
              <a:extLst>
                <a:ext uri="{FF2B5EF4-FFF2-40B4-BE49-F238E27FC236}">
                  <a16:creationId xmlns:a16="http://schemas.microsoft.com/office/drawing/2014/main" id="{5CDDEE3D-A4F8-5AA2-7EEE-0D3808AA136F}"/>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14" name="TextBox 14">
              <a:extLst>
                <a:ext uri="{FF2B5EF4-FFF2-40B4-BE49-F238E27FC236}">
                  <a16:creationId xmlns:a16="http://schemas.microsoft.com/office/drawing/2014/main" id="{4EDA8205-3D1D-082A-045F-A39A4C47B246}"/>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15" name="AutoShape 15">
            <a:extLst>
              <a:ext uri="{FF2B5EF4-FFF2-40B4-BE49-F238E27FC236}">
                <a16:creationId xmlns:a16="http://schemas.microsoft.com/office/drawing/2014/main" id="{F6A62D0C-259A-39E3-3C62-9AE58D839DAD}"/>
              </a:ext>
            </a:extLst>
          </p:cNvPr>
          <p:cNvSpPr/>
          <p:nvPr/>
        </p:nvSpPr>
        <p:spPr>
          <a:xfrm>
            <a:off x="-1839005" y="-2273771"/>
            <a:ext cx="5185216" cy="5132702"/>
          </a:xfrm>
          <a:prstGeom prst="line">
            <a:avLst/>
          </a:prstGeom>
          <a:ln w="28575" cap="flat">
            <a:solidFill>
              <a:srgbClr val="8CA9AD"/>
            </a:solidFill>
            <a:prstDash val="solid"/>
            <a:headEnd type="none" w="sm" len="sm"/>
            <a:tailEnd type="none" w="sm" len="sm"/>
          </a:ln>
        </p:spPr>
      </p:sp>
      <p:sp>
        <p:nvSpPr>
          <p:cNvPr id="16" name="AutoShape 16">
            <a:extLst>
              <a:ext uri="{FF2B5EF4-FFF2-40B4-BE49-F238E27FC236}">
                <a16:creationId xmlns:a16="http://schemas.microsoft.com/office/drawing/2014/main" id="{74BBE513-E0F3-E791-7ED3-F9B35EBD000C}"/>
              </a:ext>
            </a:extLst>
          </p:cNvPr>
          <p:cNvSpPr/>
          <p:nvPr/>
        </p:nvSpPr>
        <p:spPr>
          <a:xfrm>
            <a:off x="-2052951" y="-1961095"/>
            <a:ext cx="5038853" cy="5038853"/>
          </a:xfrm>
          <a:prstGeom prst="line">
            <a:avLst/>
          </a:prstGeom>
          <a:ln w="28575" cap="flat">
            <a:solidFill>
              <a:srgbClr val="8CA9AD"/>
            </a:solidFill>
            <a:prstDash val="solid"/>
            <a:headEnd type="none" w="sm" len="sm"/>
            <a:tailEnd type="none" w="sm" len="sm"/>
          </a:ln>
        </p:spPr>
      </p:sp>
      <p:sp>
        <p:nvSpPr>
          <p:cNvPr id="17" name="AutoShape 17">
            <a:extLst>
              <a:ext uri="{FF2B5EF4-FFF2-40B4-BE49-F238E27FC236}">
                <a16:creationId xmlns:a16="http://schemas.microsoft.com/office/drawing/2014/main" id="{B2B7C2FC-7925-EF41-5E42-E3A2DAFC970C}"/>
              </a:ext>
            </a:extLst>
          </p:cNvPr>
          <p:cNvSpPr/>
          <p:nvPr/>
        </p:nvSpPr>
        <p:spPr>
          <a:xfrm>
            <a:off x="-2232553" y="-1602625"/>
            <a:ext cx="4867141" cy="4867141"/>
          </a:xfrm>
          <a:prstGeom prst="line">
            <a:avLst/>
          </a:prstGeom>
          <a:ln w="28575" cap="flat">
            <a:solidFill>
              <a:srgbClr val="8CA9AD"/>
            </a:solidFill>
            <a:prstDash val="solid"/>
            <a:headEnd type="none" w="sm" len="sm"/>
            <a:tailEnd type="none" w="sm" len="sm"/>
          </a:ln>
        </p:spPr>
      </p:sp>
      <p:sp>
        <p:nvSpPr>
          <p:cNvPr id="18" name="AutoShape 18">
            <a:extLst>
              <a:ext uri="{FF2B5EF4-FFF2-40B4-BE49-F238E27FC236}">
                <a16:creationId xmlns:a16="http://schemas.microsoft.com/office/drawing/2014/main" id="{D255DE95-D847-1D95-EFC1-3E65A28C6F09}"/>
              </a:ext>
            </a:extLst>
          </p:cNvPr>
          <p:cNvSpPr/>
          <p:nvPr/>
        </p:nvSpPr>
        <p:spPr>
          <a:xfrm>
            <a:off x="-2359208" y="-1216357"/>
            <a:ext cx="4690515" cy="4690515"/>
          </a:xfrm>
          <a:prstGeom prst="line">
            <a:avLst/>
          </a:prstGeom>
          <a:ln w="28575" cap="flat">
            <a:solidFill>
              <a:srgbClr val="8CA9AD"/>
            </a:solidFill>
            <a:prstDash val="solid"/>
            <a:headEnd type="none" w="sm" len="sm"/>
            <a:tailEnd type="none" w="sm" len="sm"/>
          </a:ln>
        </p:spPr>
      </p:sp>
      <p:sp>
        <p:nvSpPr>
          <p:cNvPr id="19" name="AutoShape 19">
            <a:extLst>
              <a:ext uri="{FF2B5EF4-FFF2-40B4-BE49-F238E27FC236}">
                <a16:creationId xmlns:a16="http://schemas.microsoft.com/office/drawing/2014/main" id="{A486DA98-F383-E18F-5351-D3C58AC33CFD}"/>
              </a:ext>
            </a:extLst>
          </p:cNvPr>
          <p:cNvSpPr/>
          <p:nvPr/>
        </p:nvSpPr>
        <p:spPr>
          <a:xfrm>
            <a:off x="-2503062" y="-776680"/>
            <a:ext cx="4347674" cy="4347674"/>
          </a:xfrm>
          <a:prstGeom prst="line">
            <a:avLst/>
          </a:prstGeom>
          <a:ln w="28575" cap="flat">
            <a:solidFill>
              <a:srgbClr val="8CA9AD"/>
            </a:solidFill>
            <a:prstDash val="solid"/>
            <a:headEnd type="none" w="sm" len="sm"/>
            <a:tailEnd type="none" w="sm" len="sm"/>
          </a:ln>
        </p:spPr>
      </p:sp>
      <p:sp>
        <p:nvSpPr>
          <p:cNvPr id="20" name="AutoShape 20">
            <a:extLst>
              <a:ext uri="{FF2B5EF4-FFF2-40B4-BE49-F238E27FC236}">
                <a16:creationId xmlns:a16="http://schemas.microsoft.com/office/drawing/2014/main" id="{69914233-1485-2228-FF1D-236D384455FC}"/>
              </a:ext>
            </a:extLst>
          </p:cNvPr>
          <p:cNvSpPr/>
          <p:nvPr/>
        </p:nvSpPr>
        <p:spPr>
          <a:xfrm>
            <a:off x="-2623881" y="-332957"/>
            <a:ext cx="3963599" cy="3985594"/>
          </a:xfrm>
          <a:prstGeom prst="line">
            <a:avLst/>
          </a:prstGeom>
          <a:ln w="28575" cap="flat">
            <a:solidFill>
              <a:srgbClr val="8CA9AD"/>
            </a:solidFill>
            <a:prstDash val="solid"/>
            <a:headEnd type="none" w="sm" len="sm"/>
            <a:tailEnd type="none" w="sm" len="sm"/>
          </a:ln>
        </p:spPr>
      </p:sp>
      <p:sp>
        <p:nvSpPr>
          <p:cNvPr id="21" name="AutoShape 21">
            <a:extLst>
              <a:ext uri="{FF2B5EF4-FFF2-40B4-BE49-F238E27FC236}">
                <a16:creationId xmlns:a16="http://schemas.microsoft.com/office/drawing/2014/main" id="{94B52A5B-120C-48AF-447E-E1EFDC89B54E}"/>
              </a:ext>
            </a:extLst>
          </p:cNvPr>
          <p:cNvSpPr/>
          <p:nvPr/>
        </p:nvSpPr>
        <p:spPr>
          <a:xfrm>
            <a:off x="-2598114" y="228677"/>
            <a:ext cx="3377485" cy="3360058"/>
          </a:xfrm>
          <a:prstGeom prst="line">
            <a:avLst/>
          </a:prstGeom>
          <a:ln w="28575" cap="flat">
            <a:solidFill>
              <a:srgbClr val="8CA9AD"/>
            </a:solidFill>
            <a:prstDash val="solid"/>
            <a:headEnd type="none" w="sm" len="sm"/>
            <a:tailEnd type="none" w="sm" len="sm"/>
          </a:ln>
        </p:spPr>
      </p:sp>
      <p:sp>
        <p:nvSpPr>
          <p:cNvPr id="22" name="AutoShape 22">
            <a:extLst>
              <a:ext uri="{FF2B5EF4-FFF2-40B4-BE49-F238E27FC236}">
                <a16:creationId xmlns:a16="http://schemas.microsoft.com/office/drawing/2014/main" id="{230C9A6E-AAE1-59F3-7EAC-11CF33A1A3F1}"/>
              </a:ext>
            </a:extLst>
          </p:cNvPr>
          <p:cNvSpPr/>
          <p:nvPr/>
        </p:nvSpPr>
        <p:spPr>
          <a:xfrm>
            <a:off x="-2509797" y="905760"/>
            <a:ext cx="2628598" cy="2671969"/>
          </a:xfrm>
          <a:prstGeom prst="line">
            <a:avLst/>
          </a:prstGeom>
          <a:ln w="28575" cap="flat">
            <a:solidFill>
              <a:srgbClr val="8CA9AD"/>
            </a:solidFill>
            <a:prstDash val="solid"/>
            <a:headEnd type="none" w="sm" len="sm"/>
            <a:tailEnd type="none" w="sm" len="sm"/>
          </a:ln>
        </p:spPr>
      </p:sp>
      <p:sp>
        <p:nvSpPr>
          <p:cNvPr id="23" name="Freeform 23">
            <a:extLst>
              <a:ext uri="{FF2B5EF4-FFF2-40B4-BE49-F238E27FC236}">
                <a16:creationId xmlns:a16="http://schemas.microsoft.com/office/drawing/2014/main" id="{E3791817-659C-41AF-A1F8-5E8BB38AD0EE}"/>
              </a:ext>
            </a:extLst>
          </p:cNvPr>
          <p:cNvSpPr/>
          <p:nvPr/>
        </p:nvSpPr>
        <p:spPr>
          <a:xfrm>
            <a:off x="17204191"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a:extLst>
              <a:ext uri="{FF2B5EF4-FFF2-40B4-BE49-F238E27FC236}">
                <a16:creationId xmlns:a16="http://schemas.microsoft.com/office/drawing/2014/main" id="{2AD0D008-D7AC-C0C9-7D2C-44F19BA54AA1}"/>
              </a:ext>
            </a:extLst>
          </p:cNvPr>
          <p:cNvSpPr/>
          <p:nvPr/>
        </p:nvSpPr>
        <p:spPr>
          <a:xfrm>
            <a:off x="17005114"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a:extLst>
              <a:ext uri="{FF2B5EF4-FFF2-40B4-BE49-F238E27FC236}">
                <a16:creationId xmlns:a16="http://schemas.microsoft.com/office/drawing/2014/main" id="{F89C7F11-D678-BCB5-0597-0CA4D526E5A0}"/>
              </a:ext>
            </a:extLst>
          </p:cNvPr>
          <p:cNvSpPr/>
          <p:nvPr/>
        </p:nvSpPr>
        <p:spPr>
          <a:xfrm rot="5400000">
            <a:off x="1028700"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a:extLst>
              <a:ext uri="{FF2B5EF4-FFF2-40B4-BE49-F238E27FC236}">
                <a16:creationId xmlns:a16="http://schemas.microsoft.com/office/drawing/2014/main" id="{DE1E235C-A960-1710-BA97-CF4D49F5F868}"/>
              </a:ext>
            </a:extLst>
          </p:cNvPr>
          <p:cNvSpPr/>
          <p:nvPr/>
        </p:nvSpPr>
        <p:spPr>
          <a:xfrm>
            <a:off x="17659708" y="194186"/>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a:extLst>
              <a:ext uri="{FF2B5EF4-FFF2-40B4-BE49-F238E27FC236}">
                <a16:creationId xmlns:a16="http://schemas.microsoft.com/office/drawing/2014/main" id="{7FFDEF8D-7AA6-CCBF-0941-3A912CB99B2F}"/>
              </a:ext>
            </a:extLst>
          </p:cNvPr>
          <p:cNvSpPr/>
          <p:nvPr/>
        </p:nvSpPr>
        <p:spPr>
          <a:xfrm rot="5400000" flipH="1" flipV="1">
            <a:off x="17259300" y="102870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a:extLst>
              <a:ext uri="{FF2B5EF4-FFF2-40B4-BE49-F238E27FC236}">
                <a16:creationId xmlns:a16="http://schemas.microsoft.com/office/drawing/2014/main" id="{B922EACB-C139-82E6-D056-46A4472D02E8}"/>
              </a:ext>
            </a:extLst>
          </p:cNvPr>
          <p:cNvSpPr/>
          <p:nvPr/>
        </p:nvSpPr>
        <p:spPr>
          <a:xfrm rot="-10800000">
            <a:off x="1028700" y="100012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a:extLst>
              <a:ext uri="{FF2B5EF4-FFF2-40B4-BE49-F238E27FC236}">
                <a16:creationId xmlns:a16="http://schemas.microsoft.com/office/drawing/2014/main" id="{B6B80F8B-95EB-E594-AE98-EB2E13112152}"/>
              </a:ext>
            </a:extLst>
          </p:cNvPr>
          <p:cNvSpPr/>
          <p:nvPr/>
        </p:nvSpPr>
        <p:spPr>
          <a:xfrm rot="5400000" flipH="1" flipV="1">
            <a:off x="-55109" y="90576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Freeform 30">
            <a:extLst>
              <a:ext uri="{FF2B5EF4-FFF2-40B4-BE49-F238E27FC236}">
                <a16:creationId xmlns:a16="http://schemas.microsoft.com/office/drawing/2014/main" id="{77EC72F9-3BCA-7C18-21B4-4097BD274843}"/>
              </a:ext>
            </a:extLst>
          </p:cNvPr>
          <p:cNvSpPr/>
          <p:nvPr/>
        </p:nvSpPr>
        <p:spPr>
          <a:xfrm rot="-10800000" flipH="1" flipV="1">
            <a:off x="-55109" y="-83684"/>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a:extLst>
              <a:ext uri="{FF2B5EF4-FFF2-40B4-BE49-F238E27FC236}">
                <a16:creationId xmlns:a16="http://schemas.microsoft.com/office/drawing/2014/main" id="{D8209963-9FFF-360F-6269-52B4B9AF388A}"/>
              </a:ext>
            </a:extLst>
          </p:cNvPr>
          <p:cNvSpPr/>
          <p:nvPr/>
        </p:nvSpPr>
        <p:spPr>
          <a:xfrm>
            <a:off x="17746096" y="841015"/>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Freeform 32">
            <a:extLst>
              <a:ext uri="{FF2B5EF4-FFF2-40B4-BE49-F238E27FC236}">
                <a16:creationId xmlns:a16="http://schemas.microsoft.com/office/drawing/2014/main" id="{2A263D48-28C1-0590-D5D1-45BD8B18B990}"/>
              </a:ext>
            </a:extLst>
          </p:cNvPr>
          <p:cNvSpPr/>
          <p:nvPr/>
        </p:nvSpPr>
        <p:spPr>
          <a:xfrm>
            <a:off x="0"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3" name="Freeform 33">
            <a:extLst>
              <a:ext uri="{FF2B5EF4-FFF2-40B4-BE49-F238E27FC236}">
                <a16:creationId xmlns:a16="http://schemas.microsoft.com/office/drawing/2014/main" id="{2232F3B1-603D-EE36-AD1E-6F8CFCB22F7A}"/>
              </a:ext>
            </a:extLst>
          </p:cNvPr>
          <p:cNvSpPr/>
          <p:nvPr/>
        </p:nvSpPr>
        <p:spPr>
          <a:xfrm rot="-10800000">
            <a:off x="0"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4" name="Freeform 34">
            <a:extLst>
              <a:ext uri="{FF2B5EF4-FFF2-40B4-BE49-F238E27FC236}">
                <a16:creationId xmlns:a16="http://schemas.microsoft.com/office/drawing/2014/main" id="{D49F289C-6691-DBF4-DD70-F927110F7184}"/>
              </a:ext>
            </a:extLst>
          </p:cNvPr>
          <p:cNvSpPr/>
          <p:nvPr/>
        </p:nvSpPr>
        <p:spPr>
          <a:xfrm rot="-5400000">
            <a:off x="15921305" y="816500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Freeform 35">
            <a:extLst>
              <a:ext uri="{FF2B5EF4-FFF2-40B4-BE49-F238E27FC236}">
                <a16:creationId xmlns:a16="http://schemas.microsoft.com/office/drawing/2014/main" id="{A415A961-CE32-F1F8-6E3E-D5F84C5BA0C2}"/>
              </a:ext>
            </a:extLst>
          </p:cNvPr>
          <p:cNvSpPr/>
          <p:nvPr/>
        </p:nvSpPr>
        <p:spPr>
          <a:xfrm rot="-10800000">
            <a:off x="15921305"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a:extLst>
              <a:ext uri="{FF2B5EF4-FFF2-40B4-BE49-F238E27FC236}">
                <a16:creationId xmlns:a16="http://schemas.microsoft.com/office/drawing/2014/main" id="{DA318FA8-1B72-DFFD-6E54-653132DF4BE3}"/>
              </a:ext>
            </a:extLst>
          </p:cNvPr>
          <p:cNvSpPr/>
          <p:nvPr/>
        </p:nvSpPr>
        <p:spPr>
          <a:xfrm rot="5400000">
            <a:off x="17005114"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4">
            <a:extLst>
              <a:ext uri="{FF2B5EF4-FFF2-40B4-BE49-F238E27FC236}">
                <a16:creationId xmlns:a16="http://schemas.microsoft.com/office/drawing/2014/main" id="{9FC51020-CF35-6F80-F427-9C4306C1BF5A}"/>
              </a:ext>
            </a:extLst>
          </p:cNvPr>
          <p:cNvSpPr/>
          <p:nvPr/>
        </p:nvSpPr>
        <p:spPr>
          <a:xfrm>
            <a:off x="16286823" y="8913035"/>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10"/>
            <a:stretch>
              <a:fillRect l="-636332" t="-3636" b="-15051"/>
            </a:stretch>
          </a:blipFill>
        </p:spPr>
      </p:sp>
      <p:sp>
        <p:nvSpPr>
          <p:cNvPr id="11" name="TextBox 10">
            <a:extLst>
              <a:ext uri="{FF2B5EF4-FFF2-40B4-BE49-F238E27FC236}">
                <a16:creationId xmlns:a16="http://schemas.microsoft.com/office/drawing/2014/main" id="{29A99EB9-AFDB-4417-A2C4-EFEB4F6532A5}"/>
              </a:ext>
            </a:extLst>
          </p:cNvPr>
          <p:cNvSpPr txBox="1"/>
          <p:nvPr/>
        </p:nvSpPr>
        <p:spPr>
          <a:xfrm>
            <a:off x="3849803" y="2495437"/>
            <a:ext cx="11937661" cy="8316444"/>
          </a:xfrm>
          <a:prstGeom prst="rect">
            <a:avLst/>
          </a:prstGeom>
          <a:noFill/>
        </p:spPr>
        <p:txBody>
          <a:bodyPr wrap="square" rtlCol="0">
            <a:spAutoFit/>
          </a:bodyPr>
          <a:lstStyle/>
          <a:p>
            <a:pPr algn="l">
              <a:lnSpc>
                <a:spcPct val="150000"/>
              </a:lnSpc>
              <a:buFont typeface="Arial" panose="020B0604020202020204" pitchFamily="34" charset="0"/>
              <a:buChar char="•"/>
            </a:pPr>
            <a:r>
              <a:rPr lang="en-IN" sz="3600" b="0" i="0" dirty="0">
                <a:effectLst/>
              </a:rPr>
              <a:t> Multi-step mathematical reasoning (GSM8K dataset)</a:t>
            </a:r>
          </a:p>
          <a:p>
            <a:pPr algn="l">
              <a:lnSpc>
                <a:spcPct val="150000"/>
              </a:lnSpc>
              <a:buFont typeface="Arial" panose="020B0604020202020204" pitchFamily="34" charset="0"/>
              <a:buChar char="•"/>
            </a:pPr>
            <a:r>
              <a:rPr lang="en-IN" sz="3600" b="0" i="0" dirty="0">
                <a:effectLst/>
              </a:rPr>
              <a:t> Logical puzzle solving</a:t>
            </a:r>
          </a:p>
          <a:p>
            <a:pPr algn="l">
              <a:lnSpc>
                <a:spcPct val="150000"/>
              </a:lnSpc>
              <a:buFont typeface="Arial" panose="020B0604020202020204" pitchFamily="34" charset="0"/>
              <a:buChar char="•"/>
            </a:pPr>
            <a:r>
              <a:rPr lang="en-IN" sz="3600" b="0" i="0" dirty="0">
                <a:effectLst/>
              </a:rPr>
              <a:t> Abstract reasoning tasks (ARC challenge)</a:t>
            </a:r>
          </a:p>
          <a:p>
            <a:pPr algn="l">
              <a:lnSpc>
                <a:spcPct val="150000"/>
              </a:lnSpc>
              <a:buFont typeface="Arial" panose="020B0604020202020204" pitchFamily="34" charset="0"/>
              <a:buChar char="•"/>
            </a:pPr>
            <a:r>
              <a:rPr lang="en-IN" sz="3600" b="0" i="0" dirty="0">
                <a:effectLst/>
              </a:rPr>
              <a:t> Structured problem-solving systems</a:t>
            </a:r>
          </a:p>
          <a:p>
            <a:pPr algn="l">
              <a:lnSpc>
                <a:spcPct val="150000"/>
              </a:lnSpc>
              <a:buFont typeface="Arial" panose="020B0604020202020204" pitchFamily="34" charset="0"/>
              <a:buChar char="•"/>
            </a:pPr>
            <a:r>
              <a:rPr lang="en-IN" sz="3600" b="0" i="0" dirty="0">
                <a:effectLst/>
              </a:rPr>
              <a:t> AI alignment and reasoning validation research</a:t>
            </a:r>
          </a:p>
          <a:p>
            <a:pPr algn="l">
              <a:lnSpc>
                <a:spcPct val="150000"/>
              </a:lnSpc>
            </a:pPr>
            <a:endParaRPr lang="en-IN" sz="3600" b="0" i="0" dirty="0">
              <a:effectLst/>
            </a:endParaRPr>
          </a:p>
          <a:p>
            <a:pPr algn="l">
              <a:lnSpc>
                <a:spcPct val="150000"/>
              </a:lnSpc>
            </a:pPr>
            <a:r>
              <a:rPr lang="en-IN" sz="3600" b="1" i="0" dirty="0">
                <a:effectLst/>
              </a:rPr>
              <a:t>Out of Scope:</a:t>
            </a:r>
          </a:p>
          <a:p>
            <a:pPr algn="l">
              <a:lnSpc>
                <a:spcPct val="150000"/>
              </a:lnSpc>
              <a:buFont typeface="Arial" panose="020B0604020202020204" pitchFamily="34" charset="0"/>
              <a:buChar char="•"/>
            </a:pPr>
            <a:r>
              <a:rPr lang="en-IN" sz="3600" b="0" i="0" dirty="0">
                <a:effectLst/>
              </a:rPr>
              <a:t> Full LLM training from scratch</a:t>
            </a:r>
          </a:p>
          <a:p>
            <a:pPr algn="l">
              <a:lnSpc>
                <a:spcPct val="150000"/>
              </a:lnSpc>
              <a:buFont typeface="Arial" panose="020B0604020202020204" pitchFamily="34" charset="0"/>
              <a:buChar char="•"/>
            </a:pPr>
            <a:r>
              <a:rPr lang="en-IN" sz="3600" b="0" i="0" dirty="0">
                <a:effectLst/>
              </a:rPr>
              <a:t> Real-time conversational agents</a:t>
            </a:r>
          </a:p>
          <a:p>
            <a:pPr>
              <a:lnSpc>
                <a:spcPct val="150000"/>
              </a:lnSpc>
            </a:pPr>
            <a:endParaRPr lang="en-IN" sz="3600" dirty="0"/>
          </a:p>
        </p:txBody>
      </p:sp>
    </p:spTree>
    <p:extLst>
      <p:ext uri="{BB962C8B-B14F-4D97-AF65-F5344CB8AC3E}">
        <p14:creationId xmlns:p14="http://schemas.microsoft.com/office/powerpoint/2010/main" val="534551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E19B9-D210-46EA-4731-535F6EE8F88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00219E9-9EBB-B264-897A-A7874E4A5C6C}"/>
              </a:ext>
            </a:extLst>
          </p:cNvPr>
          <p:cNvGrpSpPr/>
          <p:nvPr/>
        </p:nvGrpSpPr>
        <p:grpSpPr>
          <a:xfrm rot="2700000">
            <a:off x="14381224" y="7574679"/>
            <a:ext cx="7415398" cy="3565095"/>
            <a:chOff x="0" y="0"/>
            <a:chExt cx="660400" cy="317500"/>
          </a:xfrm>
        </p:grpSpPr>
        <p:sp>
          <p:nvSpPr>
            <p:cNvPr id="3" name="Freeform 3">
              <a:extLst>
                <a:ext uri="{FF2B5EF4-FFF2-40B4-BE49-F238E27FC236}">
                  <a16:creationId xmlns:a16="http://schemas.microsoft.com/office/drawing/2014/main" id="{5EE46D76-9B70-27E0-B33F-79263722CEFF}"/>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a:extLst>
                <a:ext uri="{FF2B5EF4-FFF2-40B4-BE49-F238E27FC236}">
                  <a16:creationId xmlns:a16="http://schemas.microsoft.com/office/drawing/2014/main" id="{9270B3F7-695D-99B5-3270-9102A071A827}"/>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5" name="AutoShape 5">
            <a:extLst>
              <a:ext uri="{FF2B5EF4-FFF2-40B4-BE49-F238E27FC236}">
                <a16:creationId xmlns:a16="http://schemas.microsoft.com/office/drawing/2014/main" id="{8BDFC8E9-A06E-9763-D195-EE4773BF6B56}"/>
              </a:ext>
            </a:extLst>
          </p:cNvPr>
          <p:cNvSpPr/>
          <p:nvPr/>
        </p:nvSpPr>
        <p:spPr>
          <a:xfrm>
            <a:off x="13918610" y="8394229"/>
            <a:ext cx="5185216" cy="5132702"/>
          </a:xfrm>
          <a:prstGeom prst="line">
            <a:avLst/>
          </a:prstGeom>
          <a:ln w="28575" cap="flat">
            <a:solidFill>
              <a:srgbClr val="8CA9AD"/>
            </a:solidFill>
            <a:prstDash val="solid"/>
            <a:headEnd type="none" w="sm" len="sm"/>
            <a:tailEnd type="none" w="sm" len="sm"/>
          </a:ln>
        </p:spPr>
      </p:sp>
      <p:sp>
        <p:nvSpPr>
          <p:cNvPr id="6" name="AutoShape 6">
            <a:extLst>
              <a:ext uri="{FF2B5EF4-FFF2-40B4-BE49-F238E27FC236}">
                <a16:creationId xmlns:a16="http://schemas.microsoft.com/office/drawing/2014/main" id="{72AD973C-F140-37EE-6D45-A053C1C45066}"/>
              </a:ext>
            </a:extLst>
          </p:cNvPr>
          <p:cNvSpPr/>
          <p:nvPr/>
        </p:nvSpPr>
        <p:spPr>
          <a:xfrm>
            <a:off x="13704664" y="8706905"/>
            <a:ext cx="5038853" cy="5038853"/>
          </a:xfrm>
          <a:prstGeom prst="line">
            <a:avLst/>
          </a:prstGeom>
          <a:ln w="28575" cap="flat">
            <a:solidFill>
              <a:srgbClr val="8CA9AD"/>
            </a:solidFill>
            <a:prstDash val="solid"/>
            <a:headEnd type="none" w="sm" len="sm"/>
            <a:tailEnd type="none" w="sm" len="sm"/>
          </a:ln>
        </p:spPr>
      </p:sp>
      <p:sp>
        <p:nvSpPr>
          <p:cNvPr id="7" name="AutoShape 7">
            <a:extLst>
              <a:ext uri="{FF2B5EF4-FFF2-40B4-BE49-F238E27FC236}">
                <a16:creationId xmlns:a16="http://schemas.microsoft.com/office/drawing/2014/main" id="{2A3E97A4-05E0-B09E-AD5D-828FE6AF69F4}"/>
              </a:ext>
            </a:extLst>
          </p:cNvPr>
          <p:cNvSpPr/>
          <p:nvPr/>
        </p:nvSpPr>
        <p:spPr>
          <a:xfrm>
            <a:off x="13525062" y="9065375"/>
            <a:ext cx="4867141" cy="4867141"/>
          </a:xfrm>
          <a:prstGeom prst="line">
            <a:avLst/>
          </a:prstGeom>
          <a:ln w="28575" cap="flat">
            <a:solidFill>
              <a:srgbClr val="8CA9AD"/>
            </a:solidFill>
            <a:prstDash val="solid"/>
            <a:headEnd type="none" w="sm" len="sm"/>
            <a:tailEnd type="none" w="sm" len="sm"/>
          </a:ln>
        </p:spPr>
      </p:sp>
      <p:sp>
        <p:nvSpPr>
          <p:cNvPr id="8" name="AutoShape 8">
            <a:extLst>
              <a:ext uri="{FF2B5EF4-FFF2-40B4-BE49-F238E27FC236}">
                <a16:creationId xmlns:a16="http://schemas.microsoft.com/office/drawing/2014/main" id="{01AE3F94-6626-FEA6-CA38-79CFDF8D2818}"/>
              </a:ext>
            </a:extLst>
          </p:cNvPr>
          <p:cNvSpPr/>
          <p:nvPr/>
        </p:nvSpPr>
        <p:spPr>
          <a:xfrm>
            <a:off x="13398407" y="9451643"/>
            <a:ext cx="4690515" cy="4690515"/>
          </a:xfrm>
          <a:prstGeom prst="line">
            <a:avLst/>
          </a:prstGeom>
          <a:ln w="28575" cap="flat">
            <a:solidFill>
              <a:srgbClr val="8CA9AD"/>
            </a:solidFill>
            <a:prstDash val="solid"/>
            <a:headEnd type="none" w="sm" len="sm"/>
            <a:tailEnd type="none" w="sm" len="sm"/>
          </a:ln>
        </p:spPr>
      </p:sp>
      <p:sp>
        <p:nvSpPr>
          <p:cNvPr id="9" name="AutoShape 9">
            <a:extLst>
              <a:ext uri="{FF2B5EF4-FFF2-40B4-BE49-F238E27FC236}">
                <a16:creationId xmlns:a16="http://schemas.microsoft.com/office/drawing/2014/main" id="{A88D2F87-DE6D-27CF-861A-C89EA56A523D}"/>
              </a:ext>
            </a:extLst>
          </p:cNvPr>
          <p:cNvSpPr/>
          <p:nvPr/>
        </p:nvSpPr>
        <p:spPr>
          <a:xfrm>
            <a:off x="13254553" y="9891320"/>
            <a:ext cx="4347674" cy="4347674"/>
          </a:xfrm>
          <a:prstGeom prst="line">
            <a:avLst/>
          </a:prstGeom>
          <a:ln w="28575" cap="flat">
            <a:solidFill>
              <a:srgbClr val="8CA9AD"/>
            </a:solidFill>
            <a:prstDash val="solid"/>
            <a:headEnd type="none" w="sm" len="sm"/>
            <a:tailEnd type="none" w="sm" len="sm"/>
          </a:ln>
        </p:spPr>
      </p:sp>
      <p:sp>
        <p:nvSpPr>
          <p:cNvPr id="10" name="TextBox 10">
            <a:extLst>
              <a:ext uri="{FF2B5EF4-FFF2-40B4-BE49-F238E27FC236}">
                <a16:creationId xmlns:a16="http://schemas.microsoft.com/office/drawing/2014/main" id="{4884D079-ACF3-1C6F-AE28-0FECF45B2E71}"/>
              </a:ext>
            </a:extLst>
          </p:cNvPr>
          <p:cNvSpPr txBox="1"/>
          <p:nvPr/>
        </p:nvSpPr>
        <p:spPr>
          <a:xfrm>
            <a:off x="4350443" y="726565"/>
            <a:ext cx="8980378" cy="1000274"/>
          </a:xfrm>
          <a:prstGeom prst="rect">
            <a:avLst/>
          </a:prstGeom>
        </p:spPr>
        <p:txBody>
          <a:bodyPr lIns="0" tIns="0" rIns="0" bIns="0" rtlCol="0" anchor="t">
            <a:spAutoFit/>
          </a:bodyPr>
          <a:lstStyle/>
          <a:p>
            <a:pPr algn="ctr">
              <a:lnSpc>
                <a:spcPts val="7800"/>
              </a:lnSpc>
            </a:pPr>
            <a:r>
              <a:rPr lang="en-US" sz="7800" b="1" dirty="0">
                <a:solidFill>
                  <a:srgbClr val="227C9D"/>
                </a:solidFill>
                <a:latin typeface="Times New Roman Bold"/>
                <a:ea typeface="Times New Roman Bold"/>
                <a:cs typeface="Times New Roman Bold"/>
                <a:sym typeface="Times New Roman Bold"/>
              </a:rPr>
              <a:t>Novelty</a:t>
            </a:r>
          </a:p>
        </p:txBody>
      </p:sp>
      <p:grpSp>
        <p:nvGrpSpPr>
          <p:cNvPr id="12" name="Group 12">
            <a:extLst>
              <a:ext uri="{FF2B5EF4-FFF2-40B4-BE49-F238E27FC236}">
                <a16:creationId xmlns:a16="http://schemas.microsoft.com/office/drawing/2014/main" id="{FEFC0F5B-65E3-E362-6F92-8FAF34A37047}"/>
              </a:ext>
            </a:extLst>
          </p:cNvPr>
          <p:cNvGrpSpPr/>
          <p:nvPr/>
        </p:nvGrpSpPr>
        <p:grpSpPr>
          <a:xfrm rot="2700000">
            <a:off x="-1376391" y="-3093321"/>
            <a:ext cx="7415398" cy="3565095"/>
            <a:chOff x="0" y="0"/>
            <a:chExt cx="660400" cy="317500"/>
          </a:xfrm>
        </p:grpSpPr>
        <p:sp>
          <p:nvSpPr>
            <p:cNvPr id="13" name="Freeform 13">
              <a:extLst>
                <a:ext uri="{FF2B5EF4-FFF2-40B4-BE49-F238E27FC236}">
                  <a16:creationId xmlns:a16="http://schemas.microsoft.com/office/drawing/2014/main" id="{B27955CD-B900-8834-0238-7540FED0E3DF}"/>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14" name="TextBox 14">
              <a:extLst>
                <a:ext uri="{FF2B5EF4-FFF2-40B4-BE49-F238E27FC236}">
                  <a16:creationId xmlns:a16="http://schemas.microsoft.com/office/drawing/2014/main" id="{123E505C-9036-B8C1-99BE-5FE7EBAC0A2B}"/>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15" name="AutoShape 15">
            <a:extLst>
              <a:ext uri="{FF2B5EF4-FFF2-40B4-BE49-F238E27FC236}">
                <a16:creationId xmlns:a16="http://schemas.microsoft.com/office/drawing/2014/main" id="{5D1E1C8A-7299-5E9C-A1F4-8495E34FA7EF}"/>
              </a:ext>
            </a:extLst>
          </p:cNvPr>
          <p:cNvSpPr/>
          <p:nvPr/>
        </p:nvSpPr>
        <p:spPr>
          <a:xfrm>
            <a:off x="-1839005" y="-2273771"/>
            <a:ext cx="5185216" cy="5132702"/>
          </a:xfrm>
          <a:prstGeom prst="line">
            <a:avLst/>
          </a:prstGeom>
          <a:ln w="28575" cap="flat">
            <a:solidFill>
              <a:srgbClr val="8CA9AD"/>
            </a:solidFill>
            <a:prstDash val="solid"/>
            <a:headEnd type="none" w="sm" len="sm"/>
            <a:tailEnd type="none" w="sm" len="sm"/>
          </a:ln>
        </p:spPr>
      </p:sp>
      <p:sp>
        <p:nvSpPr>
          <p:cNvPr id="16" name="AutoShape 16">
            <a:extLst>
              <a:ext uri="{FF2B5EF4-FFF2-40B4-BE49-F238E27FC236}">
                <a16:creationId xmlns:a16="http://schemas.microsoft.com/office/drawing/2014/main" id="{5B9C402B-AB80-BAD2-7580-EEF51E8D5822}"/>
              </a:ext>
            </a:extLst>
          </p:cNvPr>
          <p:cNvSpPr/>
          <p:nvPr/>
        </p:nvSpPr>
        <p:spPr>
          <a:xfrm>
            <a:off x="-2052951" y="-1961095"/>
            <a:ext cx="5038853" cy="5038853"/>
          </a:xfrm>
          <a:prstGeom prst="line">
            <a:avLst/>
          </a:prstGeom>
          <a:ln w="28575" cap="flat">
            <a:solidFill>
              <a:srgbClr val="8CA9AD"/>
            </a:solidFill>
            <a:prstDash val="solid"/>
            <a:headEnd type="none" w="sm" len="sm"/>
            <a:tailEnd type="none" w="sm" len="sm"/>
          </a:ln>
        </p:spPr>
      </p:sp>
      <p:sp>
        <p:nvSpPr>
          <p:cNvPr id="17" name="AutoShape 17">
            <a:extLst>
              <a:ext uri="{FF2B5EF4-FFF2-40B4-BE49-F238E27FC236}">
                <a16:creationId xmlns:a16="http://schemas.microsoft.com/office/drawing/2014/main" id="{DA591A23-080B-FF63-75B3-EFE12D966892}"/>
              </a:ext>
            </a:extLst>
          </p:cNvPr>
          <p:cNvSpPr/>
          <p:nvPr/>
        </p:nvSpPr>
        <p:spPr>
          <a:xfrm>
            <a:off x="-2232553" y="-1602625"/>
            <a:ext cx="4867141" cy="4867141"/>
          </a:xfrm>
          <a:prstGeom prst="line">
            <a:avLst/>
          </a:prstGeom>
          <a:ln w="28575" cap="flat">
            <a:solidFill>
              <a:srgbClr val="8CA9AD"/>
            </a:solidFill>
            <a:prstDash val="solid"/>
            <a:headEnd type="none" w="sm" len="sm"/>
            <a:tailEnd type="none" w="sm" len="sm"/>
          </a:ln>
        </p:spPr>
      </p:sp>
      <p:sp>
        <p:nvSpPr>
          <p:cNvPr id="18" name="AutoShape 18">
            <a:extLst>
              <a:ext uri="{FF2B5EF4-FFF2-40B4-BE49-F238E27FC236}">
                <a16:creationId xmlns:a16="http://schemas.microsoft.com/office/drawing/2014/main" id="{C2B7B4EC-89E9-FB39-0A40-D811A7CFA7CC}"/>
              </a:ext>
            </a:extLst>
          </p:cNvPr>
          <p:cNvSpPr/>
          <p:nvPr/>
        </p:nvSpPr>
        <p:spPr>
          <a:xfrm>
            <a:off x="-2359208" y="-1216357"/>
            <a:ext cx="4690515" cy="4690515"/>
          </a:xfrm>
          <a:prstGeom prst="line">
            <a:avLst/>
          </a:prstGeom>
          <a:ln w="28575" cap="flat">
            <a:solidFill>
              <a:srgbClr val="8CA9AD"/>
            </a:solidFill>
            <a:prstDash val="solid"/>
            <a:headEnd type="none" w="sm" len="sm"/>
            <a:tailEnd type="none" w="sm" len="sm"/>
          </a:ln>
        </p:spPr>
      </p:sp>
      <p:sp>
        <p:nvSpPr>
          <p:cNvPr id="19" name="AutoShape 19">
            <a:extLst>
              <a:ext uri="{FF2B5EF4-FFF2-40B4-BE49-F238E27FC236}">
                <a16:creationId xmlns:a16="http://schemas.microsoft.com/office/drawing/2014/main" id="{C9C295DE-EBFA-47B1-D29C-F70B6AA7B103}"/>
              </a:ext>
            </a:extLst>
          </p:cNvPr>
          <p:cNvSpPr/>
          <p:nvPr/>
        </p:nvSpPr>
        <p:spPr>
          <a:xfrm>
            <a:off x="-2503062" y="-776680"/>
            <a:ext cx="4347674" cy="4347674"/>
          </a:xfrm>
          <a:prstGeom prst="line">
            <a:avLst/>
          </a:prstGeom>
          <a:ln w="28575" cap="flat">
            <a:solidFill>
              <a:srgbClr val="8CA9AD"/>
            </a:solidFill>
            <a:prstDash val="solid"/>
            <a:headEnd type="none" w="sm" len="sm"/>
            <a:tailEnd type="none" w="sm" len="sm"/>
          </a:ln>
        </p:spPr>
      </p:sp>
      <p:sp>
        <p:nvSpPr>
          <p:cNvPr id="20" name="AutoShape 20">
            <a:extLst>
              <a:ext uri="{FF2B5EF4-FFF2-40B4-BE49-F238E27FC236}">
                <a16:creationId xmlns:a16="http://schemas.microsoft.com/office/drawing/2014/main" id="{6CC27B79-83A9-C493-CCE0-022BB72BAA68}"/>
              </a:ext>
            </a:extLst>
          </p:cNvPr>
          <p:cNvSpPr/>
          <p:nvPr/>
        </p:nvSpPr>
        <p:spPr>
          <a:xfrm>
            <a:off x="-2623881" y="-332957"/>
            <a:ext cx="3963599" cy="3985594"/>
          </a:xfrm>
          <a:prstGeom prst="line">
            <a:avLst/>
          </a:prstGeom>
          <a:ln w="28575" cap="flat">
            <a:solidFill>
              <a:srgbClr val="8CA9AD"/>
            </a:solidFill>
            <a:prstDash val="solid"/>
            <a:headEnd type="none" w="sm" len="sm"/>
            <a:tailEnd type="none" w="sm" len="sm"/>
          </a:ln>
        </p:spPr>
      </p:sp>
      <p:sp>
        <p:nvSpPr>
          <p:cNvPr id="21" name="AutoShape 21">
            <a:extLst>
              <a:ext uri="{FF2B5EF4-FFF2-40B4-BE49-F238E27FC236}">
                <a16:creationId xmlns:a16="http://schemas.microsoft.com/office/drawing/2014/main" id="{FFFAA510-EA50-158C-9832-DF1A5E42496B}"/>
              </a:ext>
            </a:extLst>
          </p:cNvPr>
          <p:cNvSpPr/>
          <p:nvPr/>
        </p:nvSpPr>
        <p:spPr>
          <a:xfrm>
            <a:off x="-2598114" y="228677"/>
            <a:ext cx="3377485" cy="3360058"/>
          </a:xfrm>
          <a:prstGeom prst="line">
            <a:avLst/>
          </a:prstGeom>
          <a:ln w="28575" cap="flat">
            <a:solidFill>
              <a:srgbClr val="8CA9AD"/>
            </a:solidFill>
            <a:prstDash val="solid"/>
            <a:headEnd type="none" w="sm" len="sm"/>
            <a:tailEnd type="none" w="sm" len="sm"/>
          </a:ln>
        </p:spPr>
      </p:sp>
      <p:sp>
        <p:nvSpPr>
          <p:cNvPr id="22" name="AutoShape 22">
            <a:extLst>
              <a:ext uri="{FF2B5EF4-FFF2-40B4-BE49-F238E27FC236}">
                <a16:creationId xmlns:a16="http://schemas.microsoft.com/office/drawing/2014/main" id="{6484505D-E9C0-6909-7959-7B469438F797}"/>
              </a:ext>
            </a:extLst>
          </p:cNvPr>
          <p:cNvSpPr/>
          <p:nvPr/>
        </p:nvSpPr>
        <p:spPr>
          <a:xfrm>
            <a:off x="-2509797" y="905760"/>
            <a:ext cx="2628598" cy="2671969"/>
          </a:xfrm>
          <a:prstGeom prst="line">
            <a:avLst/>
          </a:prstGeom>
          <a:ln w="28575" cap="flat">
            <a:solidFill>
              <a:srgbClr val="8CA9AD"/>
            </a:solidFill>
            <a:prstDash val="solid"/>
            <a:headEnd type="none" w="sm" len="sm"/>
            <a:tailEnd type="none" w="sm" len="sm"/>
          </a:ln>
        </p:spPr>
      </p:sp>
      <p:sp>
        <p:nvSpPr>
          <p:cNvPr id="23" name="Freeform 23">
            <a:extLst>
              <a:ext uri="{FF2B5EF4-FFF2-40B4-BE49-F238E27FC236}">
                <a16:creationId xmlns:a16="http://schemas.microsoft.com/office/drawing/2014/main" id="{70B1981F-756E-14F7-E635-63239FCE4174}"/>
              </a:ext>
            </a:extLst>
          </p:cNvPr>
          <p:cNvSpPr/>
          <p:nvPr/>
        </p:nvSpPr>
        <p:spPr>
          <a:xfrm>
            <a:off x="17204191"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a:extLst>
              <a:ext uri="{FF2B5EF4-FFF2-40B4-BE49-F238E27FC236}">
                <a16:creationId xmlns:a16="http://schemas.microsoft.com/office/drawing/2014/main" id="{45DA9519-8E67-36DF-6D66-7143308E9334}"/>
              </a:ext>
            </a:extLst>
          </p:cNvPr>
          <p:cNvSpPr/>
          <p:nvPr/>
        </p:nvSpPr>
        <p:spPr>
          <a:xfrm>
            <a:off x="17005114"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a:extLst>
              <a:ext uri="{FF2B5EF4-FFF2-40B4-BE49-F238E27FC236}">
                <a16:creationId xmlns:a16="http://schemas.microsoft.com/office/drawing/2014/main" id="{486D4245-209A-E2CD-89B7-5FBC08FA04C5}"/>
              </a:ext>
            </a:extLst>
          </p:cNvPr>
          <p:cNvSpPr/>
          <p:nvPr/>
        </p:nvSpPr>
        <p:spPr>
          <a:xfrm rot="5400000">
            <a:off x="1028700"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a:extLst>
              <a:ext uri="{FF2B5EF4-FFF2-40B4-BE49-F238E27FC236}">
                <a16:creationId xmlns:a16="http://schemas.microsoft.com/office/drawing/2014/main" id="{53B93AE3-A474-C2BB-74DC-8746FD7E87E6}"/>
              </a:ext>
            </a:extLst>
          </p:cNvPr>
          <p:cNvSpPr/>
          <p:nvPr/>
        </p:nvSpPr>
        <p:spPr>
          <a:xfrm>
            <a:off x="17659708" y="194186"/>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a:extLst>
              <a:ext uri="{FF2B5EF4-FFF2-40B4-BE49-F238E27FC236}">
                <a16:creationId xmlns:a16="http://schemas.microsoft.com/office/drawing/2014/main" id="{AE22472E-EF60-2B55-5241-ED477B1417AC}"/>
              </a:ext>
            </a:extLst>
          </p:cNvPr>
          <p:cNvSpPr/>
          <p:nvPr/>
        </p:nvSpPr>
        <p:spPr>
          <a:xfrm rot="5400000" flipH="1" flipV="1">
            <a:off x="17259300" y="102870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a:extLst>
              <a:ext uri="{FF2B5EF4-FFF2-40B4-BE49-F238E27FC236}">
                <a16:creationId xmlns:a16="http://schemas.microsoft.com/office/drawing/2014/main" id="{A88A58F5-1AF9-0340-AB7D-C8FCD476AA6F}"/>
              </a:ext>
            </a:extLst>
          </p:cNvPr>
          <p:cNvSpPr/>
          <p:nvPr/>
        </p:nvSpPr>
        <p:spPr>
          <a:xfrm rot="-10800000">
            <a:off x="1028700" y="100012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a:extLst>
              <a:ext uri="{FF2B5EF4-FFF2-40B4-BE49-F238E27FC236}">
                <a16:creationId xmlns:a16="http://schemas.microsoft.com/office/drawing/2014/main" id="{5289BD7D-B765-9B4F-124E-745903BA3BD2}"/>
              </a:ext>
            </a:extLst>
          </p:cNvPr>
          <p:cNvSpPr/>
          <p:nvPr/>
        </p:nvSpPr>
        <p:spPr>
          <a:xfrm rot="5400000" flipH="1" flipV="1">
            <a:off x="-55109" y="90576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Freeform 30">
            <a:extLst>
              <a:ext uri="{FF2B5EF4-FFF2-40B4-BE49-F238E27FC236}">
                <a16:creationId xmlns:a16="http://schemas.microsoft.com/office/drawing/2014/main" id="{F1DFFACE-799F-F0F1-6C50-AB74331382F8}"/>
              </a:ext>
            </a:extLst>
          </p:cNvPr>
          <p:cNvSpPr/>
          <p:nvPr/>
        </p:nvSpPr>
        <p:spPr>
          <a:xfrm rot="-10800000" flipH="1" flipV="1">
            <a:off x="-55109" y="-83684"/>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a:extLst>
              <a:ext uri="{FF2B5EF4-FFF2-40B4-BE49-F238E27FC236}">
                <a16:creationId xmlns:a16="http://schemas.microsoft.com/office/drawing/2014/main" id="{F7190FFE-D684-33B7-E1D5-0E62229CDC06}"/>
              </a:ext>
            </a:extLst>
          </p:cNvPr>
          <p:cNvSpPr/>
          <p:nvPr/>
        </p:nvSpPr>
        <p:spPr>
          <a:xfrm>
            <a:off x="17746096" y="841015"/>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Freeform 32">
            <a:extLst>
              <a:ext uri="{FF2B5EF4-FFF2-40B4-BE49-F238E27FC236}">
                <a16:creationId xmlns:a16="http://schemas.microsoft.com/office/drawing/2014/main" id="{24BB417E-7DE2-40CA-942A-A89DE40BF853}"/>
              </a:ext>
            </a:extLst>
          </p:cNvPr>
          <p:cNvSpPr/>
          <p:nvPr/>
        </p:nvSpPr>
        <p:spPr>
          <a:xfrm>
            <a:off x="0"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3" name="Freeform 33">
            <a:extLst>
              <a:ext uri="{FF2B5EF4-FFF2-40B4-BE49-F238E27FC236}">
                <a16:creationId xmlns:a16="http://schemas.microsoft.com/office/drawing/2014/main" id="{2E982FAB-E45E-7886-7D32-26594BFD7586}"/>
              </a:ext>
            </a:extLst>
          </p:cNvPr>
          <p:cNvSpPr/>
          <p:nvPr/>
        </p:nvSpPr>
        <p:spPr>
          <a:xfrm rot="-10800000">
            <a:off x="0"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4" name="Freeform 34">
            <a:extLst>
              <a:ext uri="{FF2B5EF4-FFF2-40B4-BE49-F238E27FC236}">
                <a16:creationId xmlns:a16="http://schemas.microsoft.com/office/drawing/2014/main" id="{FC93770E-8B7D-7B58-0D36-5A5D6C4AC119}"/>
              </a:ext>
            </a:extLst>
          </p:cNvPr>
          <p:cNvSpPr/>
          <p:nvPr/>
        </p:nvSpPr>
        <p:spPr>
          <a:xfrm rot="-5400000">
            <a:off x="15921305" y="816500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Freeform 35">
            <a:extLst>
              <a:ext uri="{FF2B5EF4-FFF2-40B4-BE49-F238E27FC236}">
                <a16:creationId xmlns:a16="http://schemas.microsoft.com/office/drawing/2014/main" id="{C306630B-F3D8-426E-7C7D-757E1C4F34D8}"/>
              </a:ext>
            </a:extLst>
          </p:cNvPr>
          <p:cNvSpPr/>
          <p:nvPr/>
        </p:nvSpPr>
        <p:spPr>
          <a:xfrm rot="-10800000">
            <a:off x="15921305"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a:extLst>
              <a:ext uri="{FF2B5EF4-FFF2-40B4-BE49-F238E27FC236}">
                <a16:creationId xmlns:a16="http://schemas.microsoft.com/office/drawing/2014/main" id="{AB3C0068-3D05-0804-3772-F96CF67F16F8}"/>
              </a:ext>
            </a:extLst>
          </p:cNvPr>
          <p:cNvSpPr/>
          <p:nvPr/>
        </p:nvSpPr>
        <p:spPr>
          <a:xfrm rot="5400000">
            <a:off x="17005114"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4">
            <a:extLst>
              <a:ext uri="{FF2B5EF4-FFF2-40B4-BE49-F238E27FC236}">
                <a16:creationId xmlns:a16="http://schemas.microsoft.com/office/drawing/2014/main" id="{75242540-88F1-BFC3-B6B7-FBFC950F6BC5}"/>
              </a:ext>
            </a:extLst>
          </p:cNvPr>
          <p:cNvSpPr/>
          <p:nvPr/>
        </p:nvSpPr>
        <p:spPr>
          <a:xfrm>
            <a:off x="16286823" y="8913035"/>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10"/>
            <a:stretch>
              <a:fillRect l="-636332" t="-3636" b="-15051"/>
            </a:stretch>
          </a:blipFill>
        </p:spPr>
      </p:sp>
      <p:sp>
        <p:nvSpPr>
          <p:cNvPr id="11" name="TextBox 10">
            <a:extLst>
              <a:ext uri="{FF2B5EF4-FFF2-40B4-BE49-F238E27FC236}">
                <a16:creationId xmlns:a16="http://schemas.microsoft.com/office/drawing/2014/main" id="{C924546D-EE31-4496-A891-9EE24470F512}"/>
              </a:ext>
            </a:extLst>
          </p:cNvPr>
          <p:cNvSpPr txBox="1"/>
          <p:nvPr/>
        </p:nvSpPr>
        <p:spPr>
          <a:xfrm>
            <a:off x="2404925" y="3736981"/>
            <a:ext cx="12521142" cy="6654450"/>
          </a:xfrm>
          <a:prstGeom prst="rect">
            <a:avLst/>
          </a:prstGeom>
          <a:noFill/>
        </p:spPr>
        <p:txBody>
          <a:bodyPr wrap="square" rtlCol="0">
            <a:spAutoFit/>
          </a:bodyPr>
          <a:lstStyle/>
          <a:p>
            <a:pPr algn="l">
              <a:lnSpc>
                <a:spcPct val="150000"/>
              </a:lnSpc>
              <a:buFont typeface="Arial" panose="020B0604020202020204" pitchFamily="34" charset="0"/>
              <a:buChar char="•"/>
            </a:pPr>
            <a:r>
              <a:rPr lang="en-US" sz="3600" b="0" i="0" dirty="0">
                <a:effectLst/>
              </a:rPr>
              <a:t> Moves beyond prompt engineering to architectural control</a:t>
            </a:r>
          </a:p>
          <a:p>
            <a:pPr algn="l">
              <a:lnSpc>
                <a:spcPct val="150000"/>
              </a:lnSpc>
              <a:buFont typeface="Arial" panose="020B0604020202020204" pitchFamily="34" charset="0"/>
              <a:buChar char="•"/>
            </a:pPr>
            <a:r>
              <a:rPr lang="en-US" sz="3600" b="0" i="0" dirty="0">
                <a:effectLst/>
              </a:rPr>
              <a:t> Explicit working memory via ACT-R buffers</a:t>
            </a:r>
          </a:p>
          <a:p>
            <a:pPr algn="l">
              <a:lnSpc>
                <a:spcPct val="150000"/>
              </a:lnSpc>
              <a:buFont typeface="Arial" panose="020B0604020202020204" pitchFamily="34" charset="0"/>
              <a:buChar char="•"/>
            </a:pPr>
            <a:r>
              <a:rPr lang="en-US" sz="3600" b="0" i="0" dirty="0">
                <a:effectLst/>
              </a:rPr>
              <a:t> Symbolic production rules verify reasoning steps</a:t>
            </a:r>
          </a:p>
          <a:p>
            <a:pPr algn="l">
              <a:lnSpc>
                <a:spcPct val="150000"/>
              </a:lnSpc>
              <a:buFont typeface="Arial" panose="020B0604020202020204" pitchFamily="34" charset="0"/>
              <a:buChar char="•"/>
            </a:pPr>
            <a:r>
              <a:rPr lang="en-US" sz="3600" b="0" i="0" dirty="0">
                <a:effectLst/>
              </a:rPr>
              <a:t> Structured constrained decoding (JSON/logic format)</a:t>
            </a:r>
          </a:p>
          <a:p>
            <a:pPr algn="l">
              <a:lnSpc>
                <a:spcPct val="150000"/>
              </a:lnSpc>
              <a:buFont typeface="Arial" panose="020B0604020202020204" pitchFamily="34" charset="0"/>
              <a:buChar char="•"/>
            </a:pPr>
            <a:r>
              <a:rPr lang="en-US" sz="3600" b="0" i="0" dirty="0">
                <a:effectLst/>
              </a:rPr>
              <a:t> Faithfulness score to measure verified reasoning steps</a:t>
            </a:r>
          </a:p>
          <a:p>
            <a:pPr algn="l">
              <a:lnSpc>
                <a:spcPct val="150000"/>
              </a:lnSpc>
            </a:pPr>
            <a:endParaRPr lang="en-US" sz="3600" b="0" i="0" dirty="0">
              <a:effectLst/>
            </a:endParaRPr>
          </a:p>
          <a:p>
            <a:pPr algn="l">
              <a:lnSpc>
                <a:spcPct val="150000"/>
              </a:lnSpc>
            </a:pPr>
            <a:r>
              <a:rPr lang="en-US" sz="3600" b="0" i="0" dirty="0">
                <a:effectLst/>
              </a:rPr>
              <a:t>This is not just using LLMs — it redesigns how they reason.</a:t>
            </a:r>
          </a:p>
          <a:p>
            <a:pPr>
              <a:lnSpc>
                <a:spcPct val="150000"/>
              </a:lnSpc>
            </a:pPr>
            <a:endParaRPr lang="en-IN" sz="3600" dirty="0"/>
          </a:p>
        </p:txBody>
      </p:sp>
    </p:spTree>
    <p:extLst>
      <p:ext uri="{BB962C8B-B14F-4D97-AF65-F5344CB8AC3E}">
        <p14:creationId xmlns:p14="http://schemas.microsoft.com/office/powerpoint/2010/main" val="911252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0B9B5-E017-477D-42CD-E6B5CDB57BC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67C4AD4-2C21-C279-85B7-EE7C97F82503}"/>
              </a:ext>
            </a:extLst>
          </p:cNvPr>
          <p:cNvGrpSpPr/>
          <p:nvPr/>
        </p:nvGrpSpPr>
        <p:grpSpPr>
          <a:xfrm rot="2700000">
            <a:off x="14381224" y="7574679"/>
            <a:ext cx="7415398" cy="3565095"/>
            <a:chOff x="0" y="0"/>
            <a:chExt cx="660400" cy="317500"/>
          </a:xfrm>
        </p:grpSpPr>
        <p:sp>
          <p:nvSpPr>
            <p:cNvPr id="3" name="Freeform 3">
              <a:extLst>
                <a:ext uri="{FF2B5EF4-FFF2-40B4-BE49-F238E27FC236}">
                  <a16:creationId xmlns:a16="http://schemas.microsoft.com/office/drawing/2014/main" id="{2A07BB89-EAAE-5EE8-E52C-0C6D49533EDE}"/>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a:extLst>
                <a:ext uri="{FF2B5EF4-FFF2-40B4-BE49-F238E27FC236}">
                  <a16:creationId xmlns:a16="http://schemas.microsoft.com/office/drawing/2014/main" id="{A1B5E3CB-4C64-6E81-9188-CBECAEDD417E}"/>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5" name="AutoShape 5">
            <a:extLst>
              <a:ext uri="{FF2B5EF4-FFF2-40B4-BE49-F238E27FC236}">
                <a16:creationId xmlns:a16="http://schemas.microsoft.com/office/drawing/2014/main" id="{85783F39-1240-3CA3-2A64-852B5094EC3D}"/>
              </a:ext>
            </a:extLst>
          </p:cNvPr>
          <p:cNvSpPr/>
          <p:nvPr/>
        </p:nvSpPr>
        <p:spPr>
          <a:xfrm>
            <a:off x="13918610" y="8394229"/>
            <a:ext cx="5185216" cy="5132702"/>
          </a:xfrm>
          <a:prstGeom prst="line">
            <a:avLst/>
          </a:prstGeom>
          <a:ln w="28575" cap="flat">
            <a:solidFill>
              <a:srgbClr val="8CA9AD"/>
            </a:solidFill>
            <a:prstDash val="solid"/>
            <a:headEnd type="none" w="sm" len="sm"/>
            <a:tailEnd type="none" w="sm" len="sm"/>
          </a:ln>
        </p:spPr>
      </p:sp>
      <p:sp>
        <p:nvSpPr>
          <p:cNvPr id="6" name="AutoShape 6">
            <a:extLst>
              <a:ext uri="{FF2B5EF4-FFF2-40B4-BE49-F238E27FC236}">
                <a16:creationId xmlns:a16="http://schemas.microsoft.com/office/drawing/2014/main" id="{ED5ADB1C-4290-C47A-D1E7-1E4CCAA278CA}"/>
              </a:ext>
            </a:extLst>
          </p:cNvPr>
          <p:cNvSpPr/>
          <p:nvPr/>
        </p:nvSpPr>
        <p:spPr>
          <a:xfrm>
            <a:off x="13704664" y="8706905"/>
            <a:ext cx="5038853" cy="5038853"/>
          </a:xfrm>
          <a:prstGeom prst="line">
            <a:avLst/>
          </a:prstGeom>
          <a:ln w="28575" cap="flat">
            <a:solidFill>
              <a:srgbClr val="8CA9AD"/>
            </a:solidFill>
            <a:prstDash val="solid"/>
            <a:headEnd type="none" w="sm" len="sm"/>
            <a:tailEnd type="none" w="sm" len="sm"/>
          </a:ln>
        </p:spPr>
      </p:sp>
      <p:sp>
        <p:nvSpPr>
          <p:cNvPr id="7" name="AutoShape 7">
            <a:extLst>
              <a:ext uri="{FF2B5EF4-FFF2-40B4-BE49-F238E27FC236}">
                <a16:creationId xmlns:a16="http://schemas.microsoft.com/office/drawing/2014/main" id="{D6443FA0-25FE-6904-0160-2CBB08B6045E}"/>
              </a:ext>
            </a:extLst>
          </p:cNvPr>
          <p:cNvSpPr/>
          <p:nvPr/>
        </p:nvSpPr>
        <p:spPr>
          <a:xfrm>
            <a:off x="13525062" y="9065375"/>
            <a:ext cx="4867141" cy="4867141"/>
          </a:xfrm>
          <a:prstGeom prst="line">
            <a:avLst/>
          </a:prstGeom>
          <a:ln w="28575" cap="flat">
            <a:solidFill>
              <a:srgbClr val="8CA9AD"/>
            </a:solidFill>
            <a:prstDash val="solid"/>
            <a:headEnd type="none" w="sm" len="sm"/>
            <a:tailEnd type="none" w="sm" len="sm"/>
          </a:ln>
        </p:spPr>
      </p:sp>
      <p:sp>
        <p:nvSpPr>
          <p:cNvPr id="8" name="AutoShape 8">
            <a:extLst>
              <a:ext uri="{FF2B5EF4-FFF2-40B4-BE49-F238E27FC236}">
                <a16:creationId xmlns:a16="http://schemas.microsoft.com/office/drawing/2014/main" id="{7C2734D1-E8AC-F790-34A3-EFA55274811C}"/>
              </a:ext>
            </a:extLst>
          </p:cNvPr>
          <p:cNvSpPr/>
          <p:nvPr/>
        </p:nvSpPr>
        <p:spPr>
          <a:xfrm>
            <a:off x="13398407" y="9451643"/>
            <a:ext cx="4690515" cy="4690515"/>
          </a:xfrm>
          <a:prstGeom prst="line">
            <a:avLst/>
          </a:prstGeom>
          <a:ln w="28575" cap="flat">
            <a:solidFill>
              <a:srgbClr val="8CA9AD"/>
            </a:solidFill>
            <a:prstDash val="solid"/>
            <a:headEnd type="none" w="sm" len="sm"/>
            <a:tailEnd type="none" w="sm" len="sm"/>
          </a:ln>
        </p:spPr>
      </p:sp>
      <p:sp>
        <p:nvSpPr>
          <p:cNvPr id="9" name="AutoShape 9">
            <a:extLst>
              <a:ext uri="{FF2B5EF4-FFF2-40B4-BE49-F238E27FC236}">
                <a16:creationId xmlns:a16="http://schemas.microsoft.com/office/drawing/2014/main" id="{8885664B-F95F-28B9-AFDC-210C57613AAE}"/>
              </a:ext>
            </a:extLst>
          </p:cNvPr>
          <p:cNvSpPr/>
          <p:nvPr/>
        </p:nvSpPr>
        <p:spPr>
          <a:xfrm>
            <a:off x="13254553" y="9891320"/>
            <a:ext cx="4347674" cy="4347674"/>
          </a:xfrm>
          <a:prstGeom prst="line">
            <a:avLst/>
          </a:prstGeom>
          <a:ln w="28575" cap="flat">
            <a:solidFill>
              <a:srgbClr val="8CA9AD"/>
            </a:solidFill>
            <a:prstDash val="solid"/>
            <a:headEnd type="none" w="sm" len="sm"/>
            <a:tailEnd type="none" w="sm" len="sm"/>
          </a:ln>
        </p:spPr>
      </p:sp>
      <p:sp>
        <p:nvSpPr>
          <p:cNvPr id="10" name="TextBox 10">
            <a:extLst>
              <a:ext uri="{FF2B5EF4-FFF2-40B4-BE49-F238E27FC236}">
                <a16:creationId xmlns:a16="http://schemas.microsoft.com/office/drawing/2014/main" id="{43697FA0-1B97-29E3-0EAB-A0980F4FE374}"/>
              </a:ext>
            </a:extLst>
          </p:cNvPr>
          <p:cNvSpPr txBox="1"/>
          <p:nvPr/>
        </p:nvSpPr>
        <p:spPr>
          <a:xfrm>
            <a:off x="4350443" y="726565"/>
            <a:ext cx="8980378" cy="1000274"/>
          </a:xfrm>
          <a:prstGeom prst="rect">
            <a:avLst/>
          </a:prstGeom>
        </p:spPr>
        <p:txBody>
          <a:bodyPr lIns="0" tIns="0" rIns="0" bIns="0" rtlCol="0" anchor="t">
            <a:spAutoFit/>
          </a:bodyPr>
          <a:lstStyle/>
          <a:p>
            <a:pPr algn="ctr">
              <a:lnSpc>
                <a:spcPts val="7800"/>
              </a:lnSpc>
            </a:pPr>
            <a:r>
              <a:rPr lang="en-US" sz="7800" b="1" dirty="0">
                <a:solidFill>
                  <a:srgbClr val="227C9D"/>
                </a:solidFill>
                <a:latin typeface="Times New Roman Bold"/>
                <a:ea typeface="Times New Roman Bold"/>
                <a:cs typeface="Times New Roman Bold"/>
                <a:sym typeface="Times New Roman Bold"/>
              </a:rPr>
              <a:t>Challenges</a:t>
            </a:r>
          </a:p>
        </p:txBody>
      </p:sp>
      <p:grpSp>
        <p:nvGrpSpPr>
          <p:cNvPr id="12" name="Group 12">
            <a:extLst>
              <a:ext uri="{FF2B5EF4-FFF2-40B4-BE49-F238E27FC236}">
                <a16:creationId xmlns:a16="http://schemas.microsoft.com/office/drawing/2014/main" id="{EE0F3391-C04B-CFFA-AE02-E5EF9CD4103A}"/>
              </a:ext>
            </a:extLst>
          </p:cNvPr>
          <p:cNvGrpSpPr/>
          <p:nvPr/>
        </p:nvGrpSpPr>
        <p:grpSpPr>
          <a:xfrm rot="2700000">
            <a:off x="-1376391" y="-3093321"/>
            <a:ext cx="7415398" cy="3565095"/>
            <a:chOff x="0" y="0"/>
            <a:chExt cx="660400" cy="317500"/>
          </a:xfrm>
        </p:grpSpPr>
        <p:sp>
          <p:nvSpPr>
            <p:cNvPr id="13" name="Freeform 13">
              <a:extLst>
                <a:ext uri="{FF2B5EF4-FFF2-40B4-BE49-F238E27FC236}">
                  <a16:creationId xmlns:a16="http://schemas.microsoft.com/office/drawing/2014/main" id="{EA540431-F805-DDCA-372E-ED8D869B2E0B}"/>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14" name="TextBox 14">
              <a:extLst>
                <a:ext uri="{FF2B5EF4-FFF2-40B4-BE49-F238E27FC236}">
                  <a16:creationId xmlns:a16="http://schemas.microsoft.com/office/drawing/2014/main" id="{0878E6E9-6DB8-4332-9366-95C162BCF99D}"/>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15" name="AutoShape 15">
            <a:extLst>
              <a:ext uri="{FF2B5EF4-FFF2-40B4-BE49-F238E27FC236}">
                <a16:creationId xmlns:a16="http://schemas.microsoft.com/office/drawing/2014/main" id="{89CE0D3A-44C1-6E29-4D74-8464CEC5F7AA}"/>
              </a:ext>
            </a:extLst>
          </p:cNvPr>
          <p:cNvSpPr/>
          <p:nvPr/>
        </p:nvSpPr>
        <p:spPr>
          <a:xfrm>
            <a:off x="-1839005" y="-2273771"/>
            <a:ext cx="5185216" cy="5132702"/>
          </a:xfrm>
          <a:prstGeom prst="line">
            <a:avLst/>
          </a:prstGeom>
          <a:ln w="28575" cap="flat">
            <a:solidFill>
              <a:srgbClr val="8CA9AD"/>
            </a:solidFill>
            <a:prstDash val="solid"/>
            <a:headEnd type="none" w="sm" len="sm"/>
            <a:tailEnd type="none" w="sm" len="sm"/>
          </a:ln>
        </p:spPr>
      </p:sp>
      <p:sp>
        <p:nvSpPr>
          <p:cNvPr id="16" name="AutoShape 16">
            <a:extLst>
              <a:ext uri="{FF2B5EF4-FFF2-40B4-BE49-F238E27FC236}">
                <a16:creationId xmlns:a16="http://schemas.microsoft.com/office/drawing/2014/main" id="{FFEDBCEA-6172-408E-FE1D-FC3E66890767}"/>
              </a:ext>
            </a:extLst>
          </p:cNvPr>
          <p:cNvSpPr/>
          <p:nvPr/>
        </p:nvSpPr>
        <p:spPr>
          <a:xfrm>
            <a:off x="-2052951" y="-1961095"/>
            <a:ext cx="5038853" cy="5038853"/>
          </a:xfrm>
          <a:prstGeom prst="line">
            <a:avLst/>
          </a:prstGeom>
          <a:ln w="28575" cap="flat">
            <a:solidFill>
              <a:srgbClr val="8CA9AD"/>
            </a:solidFill>
            <a:prstDash val="solid"/>
            <a:headEnd type="none" w="sm" len="sm"/>
            <a:tailEnd type="none" w="sm" len="sm"/>
          </a:ln>
        </p:spPr>
      </p:sp>
      <p:sp>
        <p:nvSpPr>
          <p:cNvPr id="17" name="AutoShape 17">
            <a:extLst>
              <a:ext uri="{FF2B5EF4-FFF2-40B4-BE49-F238E27FC236}">
                <a16:creationId xmlns:a16="http://schemas.microsoft.com/office/drawing/2014/main" id="{162EF417-EE8B-272B-5555-F34F3E863B95}"/>
              </a:ext>
            </a:extLst>
          </p:cNvPr>
          <p:cNvSpPr/>
          <p:nvPr/>
        </p:nvSpPr>
        <p:spPr>
          <a:xfrm>
            <a:off x="-2232553" y="-1602625"/>
            <a:ext cx="4867141" cy="4867141"/>
          </a:xfrm>
          <a:prstGeom prst="line">
            <a:avLst/>
          </a:prstGeom>
          <a:ln w="28575" cap="flat">
            <a:solidFill>
              <a:srgbClr val="8CA9AD"/>
            </a:solidFill>
            <a:prstDash val="solid"/>
            <a:headEnd type="none" w="sm" len="sm"/>
            <a:tailEnd type="none" w="sm" len="sm"/>
          </a:ln>
        </p:spPr>
      </p:sp>
      <p:sp>
        <p:nvSpPr>
          <p:cNvPr id="18" name="AutoShape 18">
            <a:extLst>
              <a:ext uri="{FF2B5EF4-FFF2-40B4-BE49-F238E27FC236}">
                <a16:creationId xmlns:a16="http://schemas.microsoft.com/office/drawing/2014/main" id="{379AD4B8-8BA7-EF44-4815-E2DFA3DB744B}"/>
              </a:ext>
            </a:extLst>
          </p:cNvPr>
          <p:cNvSpPr/>
          <p:nvPr/>
        </p:nvSpPr>
        <p:spPr>
          <a:xfrm>
            <a:off x="-2359208" y="-1216357"/>
            <a:ext cx="4690515" cy="4690515"/>
          </a:xfrm>
          <a:prstGeom prst="line">
            <a:avLst/>
          </a:prstGeom>
          <a:ln w="28575" cap="flat">
            <a:solidFill>
              <a:srgbClr val="8CA9AD"/>
            </a:solidFill>
            <a:prstDash val="solid"/>
            <a:headEnd type="none" w="sm" len="sm"/>
            <a:tailEnd type="none" w="sm" len="sm"/>
          </a:ln>
        </p:spPr>
      </p:sp>
      <p:sp>
        <p:nvSpPr>
          <p:cNvPr id="19" name="AutoShape 19">
            <a:extLst>
              <a:ext uri="{FF2B5EF4-FFF2-40B4-BE49-F238E27FC236}">
                <a16:creationId xmlns:a16="http://schemas.microsoft.com/office/drawing/2014/main" id="{FB5FE6D8-C5FF-A014-87A7-6C4531CEF5E0}"/>
              </a:ext>
            </a:extLst>
          </p:cNvPr>
          <p:cNvSpPr/>
          <p:nvPr/>
        </p:nvSpPr>
        <p:spPr>
          <a:xfrm>
            <a:off x="-2503062" y="-776680"/>
            <a:ext cx="4347674" cy="4347674"/>
          </a:xfrm>
          <a:prstGeom prst="line">
            <a:avLst/>
          </a:prstGeom>
          <a:ln w="28575" cap="flat">
            <a:solidFill>
              <a:srgbClr val="8CA9AD"/>
            </a:solidFill>
            <a:prstDash val="solid"/>
            <a:headEnd type="none" w="sm" len="sm"/>
            <a:tailEnd type="none" w="sm" len="sm"/>
          </a:ln>
        </p:spPr>
      </p:sp>
      <p:sp>
        <p:nvSpPr>
          <p:cNvPr id="20" name="AutoShape 20">
            <a:extLst>
              <a:ext uri="{FF2B5EF4-FFF2-40B4-BE49-F238E27FC236}">
                <a16:creationId xmlns:a16="http://schemas.microsoft.com/office/drawing/2014/main" id="{99FC1B13-E978-F8C3-8DDC-9534CA5AAE32}"/>
              </a:ext>
            </a:extLst>
          </p:cNvPr>
          <p:cNvSpPr/>
          <p:nvPr/>
        </p:nvSpPr>
        <p:spPr>
          <a:xfrm>
            <a:off x="-2623881" y="-332957"/>
            <a:ext cx="3963599" cy="3985594"/>
          </a:xfrm>
          <a:prstGeom prst="line">
            <a:avLst/>
          </a:prstGeom>
          <a:ln w="28575" cap="flat">
            <a:solidFill>
              <a:srgbClr val="8CA9AD"/>
            </a:solidFill>
            <a:prstDash val="solid"/>
            <a:headEnd type="none" w="sm" len="sm"/>
            <a:tailEnd type="none" w="sm" len="sm"/>
          </a:ln>
        </p:spPr>
      </p:sp>
      <p:sp>
        <p:nvSpPr>
          <p:cNvPr id="21" name="AutoShape 21">
            <a:extLst>
              <a:ext uri="{FF2B5EF4-FFF2-40B4-BE49-F238E27FC236}">
                <a16:creationId xmlns:a16="http://schemas.microsoft.com/office/drawing/2014/main" id="{BB8A751E-90D7-5044-F877-6E29B24006D8}"/>
              </a:ext>
            </a:extLst>
          </p:cNvPr>
          <p:cNvSpPr/>
          <p:nvPr/>
        </p:nvSpPr>
        <p:spPr>
          <a:xfrm>
            <a:off x="-2598114" y="228677"/>
            <a:ext cx="3377485" cy="3360058"/>
          </a:xfrm>
          <a:prstGeom prst="line">
            <a:avLst/>
          </a:prstGeom>
          <a:ln w="28575" cap="flat">
            <a:solidFill>
              <a:srgbClr val="8CA9AD"/>
            </a:solidFill>
            <a:prstDash val="solid"/>
            <a:headEnd type="none" w="sm" len="sm"/>
            <a:tailEnd type="none" w="sm" len="sm"/>
          </a:ln>
        </p:spPr>
      </p:sp>
      <p:sp>
        <p:nvSpPr>
          <p:cNvPr id="22" name="AutoShape 22">
            <a:extLst>
              <a:ext uri="{FF2B5EF4-FFF2-40B4-BE49-F238E27FC236}">
                <a16:creationId xmlns:a16="http://schemas.microsoft.com/office/drawing/2014/main" id="{07864C25-283F-09D8-3085-DB5B0EB5A18A}"/>
              </a:ext>
            </a:extLst>
          </p:cNvPr>
          <p:cNvSpPr/>
          <p:nvPr/>
        </p:nvSpPr>
        <p:spPr>
          <a:xfrm>
            <a:off x="-2509797" y="905760"/>
            <a:ext cx="2628598" cy="2671969"/>
          </a:xfrm>
          <a:prstGeom prst="line">
            <a:avLst/>
          </a:prstGeom>
          <a:ln w="28575" cap="flat">
            <a:solidFill>
              <a:srgbClr val="8CA9AD"/>
            </a:solidFill>
            <a:prstDash val="solid"/>
            <a:headEnd type="none" w="sm" len="sm"/>
            <a:tailEnd type="none" w="sm" len="sm"/>
          </a:ln>
        </p:spPr>
      </p:sp>
      <p:sp>
        <p:nvSpPr>
          <p:cNvPr id="23" name="Freeform 23">
            <a:extLst>
              <a:ext uri="{FF2B5EF4-FFF2-40B4-BE49-F238E27FC236}">
                <a16:creationId xmlns:a16="http://schemas.microsoft.com/office/drawing/2014/main" id="{B17F33CC-271D-C9AD-D19A-4613DE55174A}"/>
              </a:ext>
            </a:extLst>
          </p:cNvPr>
          <p:cNvSpPr/>
          <p:nvPr/>
        </p:nvSpPr>
        <p:spPr>
          <a:xfrm>
            <a:off x="17204191"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a:extLst>
              <a:ext uri="{FF2B5EF4-FFF2-40B4-BE49-F238E27FC236}">
                <a16:creationId xmlns:a16="http://schemas.microsoft.com/office/drawing/2014/main" id="{CA5F4DFD-AABF-C11A-F86D-8D11C407637F}"/>
              </a:ext>
            </a:extLst>
          </p:cNvPr>
          <p:cNvSpPr/>
          <p:nvPr/>
        </p:nvSpPr>
        <p:spPr>
          <a:xfrm>
            <a:off x="17005114"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a:extLst>
              <a:ext uri="{FF2B5EF4-FFF2-40B4-BE49-F238E27FC236}">
                <a16:creationId xmlns:a16="http://schemas.microsoft.com/office/drawing/2014/main" id="{E01BD3E1-DC67-68F6-A838-F55EBB247CAF}"/>
              </a:ext>
            </a:extLst>
          </p:cNvPr>
          <p:cNvSpPr/>
          <p:nvPr/>
        </p:nvSpPr>
        <p:spPr>
          <a:xfrm rot="5400000">
            <a:off x="1028700"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a:extLst>
              <a:ext uri="{FF2B5EF4-FFF2-40B4-BE49-F238E27FC236}">
                <a16:creationId xmlns:a16="http://schemas.microsoft.com/office/drawing/2014/main" id="{76657C91-6C75-31CF-A2EA-2B842AB4610A}"/>
              </a:ext>
            </a:extLst>
          </p:cNvPr>
          <p:cNvSpPr/>
          <p:nvPr/>
        </p:nvSpPr>
        <p:spPr>
          <a:xfrm>
            <a:off x="17659708" y="194186"/>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a:extLst>
              <a:ext uri="{FF2B5EF4-FFF2-40B4-BE49-F238E27FC236}">
                <a16:creationId xmlns:a16="http://schemas.microsoft.com/office/drawing/2014/main" id="{57A08DD5-5A8E-D3A6-54D6-774DE23A5F2D}"/>
              </a:ext>
            </a:extLst>
          </p:cNvPr>
          <p:cNvSpPr/>
          <p:nvPr/>
        </p:nvSpPr>
        <p:spPr>
          <a:xfrm rot="5400000" flipH="1" flipV="1">
            <a:off x="17259300" y="102870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a:extLst>
              <a:ext uri="{FF2B5EF4-FFF2-40B4-BE49-F238E27FC236}">
                <a16:creationId xmlns:a16="http://schemas.microsoft.com/office/drawing/2014/main" id="{4835FAA3-EDF2-BCE4-BF2F-76F5BEBC8C5C}"/>
              </a:ext>
            </a:extLst>
          </p:cNvPr>
          <p:cNvSpPr/>
          <p:nvPr/>
        </p:nvSpPr>
        <p:spPr>
          <a:xfrm rot="-10800000">
            <a:off x="1028700" y="100012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a:extLst>
              <a:ext uri="{FF2B5EF4-FFF2-40B4-BE49-F238E27FC236}">
                <a16:creationId xmlns:a16="http://schemas.microsoft.com/office/drawing/2014/main" id="{07C6F6E5-9EF5-845C-A6A8-08263F3EBC8E}"/>
              </a:ext>
            </a:extLst>
          </p:cNvPr>
          <p:cNvSpPr/>
          <p:nvPr/>
        </p:nvSpPr>
        <p:spPr>
          <a:xfrm rot="5400000" flipH="1" flipV="1">
            <a:off x="-55109" y="90576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Freeform 30">
            <a:extLst>
              <a:ext uri="{FF2B5EF4-FFF2-40B4-BE49-F238E27FC236}">
                <a16:creationId xmlns:a16="http://schemas.microsoft.com/office/drawing/2014/main" id="{67A15D0F-3DDA-8BEE-BEA8-2E099F219AA9}"/>
              </a:ext>
            </a:extLst>
          </p:cNvPr>
          <p:cNvSpPr/>
          <p:nvPr/>
        </p:nvSpPr>
        <p:spPr>
          <a:xfrm rot="-10800000" flipH="1" flipV="1">
            <a:off x="-55109" y="-83684"/>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a:extLst>
              <a:ext uri="{FF2B5EF4-FFF2-40B4-BE49-F238E27FC236}">
                <a16:creationId xmlns:a16="http://schemas.microsoft.com/office/drawing/2014/main" id="{5CB74210-2503-62C0-A140-289D8020AC75}"/>
              </a:ext>
            </a:extLst>
          </p:cNvPr>
          <p:cNvSpPr/>
          <p:nvPr/>
        </p:nvSpPr>
        <p:spPr>
          <a:xfrm>
            <a:off x="17746096" y="841015"/>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Freeform 32">
            <a:extLst>
              <a:ext uri="{FF2B5EF4-FFF2-40B4-BE49-F238E27FC236}">
                <a16:creationId xmlns:a16="http://schemas.microsoft.com/office/drawing/2014/main" id="{0ED1F0B9-9D23-CEBA-7FD1-B380C0424A3A}"/>
              </a:ext>
            </a:extLst>
          </p:cNvPr>
          <p:cNvSpPr/>
          <p:nvPr/>
        </p:nvSpPr>
        <p:spPr>
          <a:xfrm>
            <a:off x="0"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3" name="Freeform 33">
            <a:extLst>
              <a:ext uri="{FF2B5EF4-FFF2-40B4-BE49-F238E27FC236}">
                <a16:creationId xmlns:a16="http://schemas.microsoft.com/office/drawing/2014/main" id="{ED0C57C8-4222-E49F-9299-57440514FB44}"/>
              </a:ext>
            </a:extLst>
          </p:cNvPr>
          <p:cNvSpPr/>
          <p:nvPr/>
        </p:nvSpPr>
        <p:spPr>
          <a:xfrm rot="-10800000">
            <a:off x="0"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4" name="Freeform 34">
            <a:extLst>
              <a:ext uri="{FF2B5EF4-FFF2-40B4-BE49-F238E27FC236}">
                <a16:creationId xmlns:a16="http://schemas.microsoft.com/office/drawing/2014/main" id="{3874018C-185D-33FE-70E5-7467A8A7E734}"/>
              </a:ext>
            </a:extLst>
          </p:cNvPr>
          <p:cNvSpPr/>
          <p:nvPr/>
        </p:nvSpPr>
        <p:spPr>
          <a:xfrm rot="-5400000">
            <a:off x="15921305" y="816500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Freeform 35">
            <a:extLst>
              <a:ext uri="{FF2B5EF4-FFF2-40B4-BE49-F238E27FC236}">
                <a16:creationId xmlns:a16="http://schemas.microsoft.com/office/drawing/2014/main" id="{6B4C33D7-2E21-5607-B4DC-C817912E6A3B}"/>
              </a:ext>
            </a:extLst>
          </p:cNvPr>
          <p:cNvSpPr/>
          <p:nvPr/>
        </p:nvSpPr>
        <p:spPr>
          <a:xfrm rot="-10800000">
            <a:off x="15921305"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a:extLst>
              <a:ext uri="{FF2B5EF4-FFF2-40B4-BE49-F238E27FC236}">
                <a16:creationId xmlns:a16="http://schemas.microsoft.com/office/drawing/2014/main" id="{AD83D5C6-95CB-E673-87EF-B64C8014CB97}"/>
              </a:ext>
            </a:extLst>
          </p:cNvPr>
          <p:cNvSpPr/>
          <p:nvPr/>
        </p:nvSpPr>
        <p:spPr>
          <a:xfrm rot="5400000">
            <a:off x="17005114"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4">
            <a:extLst>
              <a:ext uri="{FF2B5EF4-FFF2-40B4-BE49-F238E27FC236}">
                <a16:creationId xmlns:a16="http://schemas.microsoft.com/office/drawing/2014/main" id="{36176461-9BF5-8332-01DD-ACDE8F652338}"/>
              </a:ext>
            </a:extLst>
          </p:cNvPr>
          <p:cNvSpPr/>
          <p:nvPr/>
        </p:nvSpPr>
        <p:spPr>
          <a:xfrm>
            <a:off x="16286823" y="8913035"/>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10"/>
            <a:stretch>
              <a:fillRect l="-636332" t="-3636" b="-15051"/>
            </a:stretch>
          </a:blipFill>
        </p:spPr>
      </p:sp>
      <p:sp>
        <p:nvSpPr>
          <p:cNvPr id="11" name="TextBox 10">
            <a:extLst>
              <a:ext uri="{FF2B5EF4-FFF2-40B4-BE49-F238E27FC236}">
                <a16:creationId xmlns:a16="http://schemas.microsoft.com/office/drawing/2014/main" id="{3FDA7CE4-B069-499E-95C5-FB5AB24E0FC4}"/>
              </a:ext>
            </a:extLst>
          </p:cNvPr>
          <p:cNvSpPr txBox="1"/>
          <p:nvPr/>
        </p:nvSpPr>
        <p:spPr>
          <a:xfrm>
            <a:off x="2859462" y="3445558"/>
            <a:ext cx="14639917" cy="4992457"/>
          </a:xfrm>
          <a:prstGeom prst="rect">
            <a:avLst/>
          </a:prstGeom>
          <a:noFill/>
        </p:spPr>
        <p:txBody>
          <a:bodyPr wrap="square" rtlCol="0">
            <a:spAutoFit/>
          </a:bodyPr>
          <a:lstStyle/>
          <a:p>
            <a:pPr algn="l">
              <a:lnSpc>
                <a:spcPct val="150000"/>
              </a:lnSpc>
              <a:buFont typeface="Arial" panose="020B0604020202020204" pitchFamily="34" charset="0"/>
              <a:buChar char="•"/>
            </a:pPr>
            <a:r>
              <a:rPr lang="en-IN" sz="3600" b="0" i="0" dirty="0">
                <a:effectLst/>
              </a:rPr>
              <a:t> Complex integration between neural and symbolic systems</a:t>
            </a:r>
          </a:p>
          <a:p>
            <a:pPr algn="l">
              <a:lnSpc>
                <a:spcPct val="150000"/>
              </a:lnSpc>
              <a:buFont typeface="Arial" panose="020B0604020202020204" pitchFamily="34" charset="0"/>
              <a:buChar char="•"/>
            </a:pPr>
            <a:r>
              <a:rPr lang="en-IN" sz="3600" b="0" i="0" dirty="0">
                <a:effectLst/>
              </a:rPr>
              <a:t> Latency overhead due to validation loop</a:t>
            </a:r>
          </a:p>
          <a:p>
            <a:pPr algn="l">
              <a:lnSpc>
                <a:spcPct val="150000"/>
              </a:lnSpc>
              <a:buFont typeface="Arial" panose="020B0604020202020204" pitchFamily="34" charset="0"/>
              <a:buChar char="•"/>
            </a:pPr>
            <a:r>
              <a:rPr lang="en-IN" sz="3600" b="0" i="0" dirty="0">
                <a:effectLst/>
              </a:rPr>
              <a:t> Designing effective translation between symbolic and vector representations</a:t>
            </a:r>
          </a:p>
          <a:p>
            <a:pPr algn="l">
              <a:lnSpc>
                <a:spcPct val="150000"/>
              </a:lnSpc>
              <a:buFont typeface="Arial" panose="020B0604020202020204" pitchFamily="34" charset="0"/>
              <a:buChar char="•"/>
            </a:pPr>
            <a:r>
              <a:rPr lang="en-IN" sz="3600" b="0" i="0" dirty="0">
                <a:effectLst/>
              </a:rPr>
              <a:t> Maintaining scalability with large LLMs</a:t>
            </a:r>
          </a:p>
          <a:p>
            <a:pPr algn="l">
              <a:lnSpc>
                <a:spcPct val="150000"/>
              </a:lnSpc>
              <a:buFont typeface="Arial" panose="020B0604020202020204" pitchFamily="34" charset="0"/>
              <a:buChar char="•"/>
            </a:pPr>
            <a:r>
              <a:rPr lang="en-IN" sz="3600" b="0" i="0" dirty="0">
                <a:effectLst/>
              </a:rPr>
              <a:t> Benchmarking interpretability quantitatively</a:t>
            </a:r>
          </a:p>
          <a:p>
            <a:pPr>
              <a:lnSpc>
                <a:spcPct val="150000"/>
              </a:lnSpc>
            </a:pPr>
            <a:endParaRPr lang="en-IN" sz="3600" dirty="0"/>
          </a:p>
        </p:txBody>
      </p:sp>
    </p:spTree>
    <p:extLst>
      <p:ext uri="{BB962C8B-B14F-4D97-AF65-F5344CB8AC3E}">
        <p14:creationId xmlns:p14="http://schemas.microsoft.com/office/powerpoint/2010/main" val="2433315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8C530-A7EC-2231-3B9A-2245C0EE132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5BBD693-B61D-9999-3E2E-A20EA4D02859}"/>
              </a:ext>
            </a:extLst>
          </p:cNvPr>
          <p:cNvGrpSpPr/>
          <p:nvPr/>
        </p:nvGrpSpPr>
        <p:grpSpPr>
          <a:xfrm rot="2700000">
            <a:off x="14381224" y="7574679"/>
            <a:ext cx="7415398" cy="3565095"/>
            <a:chOff x="0" y="0"/>
            <a:chExt cx="660400" cy="317500"/>
          </a:xfrm>
        </p:grpSpPr>
        <p:sp>
          <p:nvSpPr>
            <p:cNvPr id="3" name="Freeform 3">
              <a:extLst>
                <a:ext uri="{FF2B5EF4-FFF2-40B4-BE49-F238E27FC236}">
                  <a16:creationId xmlns:a16="http://schemas.microsoft.com/office/drawing/2014/main" id="{67484719-AFFA-DAE0-0CA7-02E4C4710EAD}"/>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a:extLst>
                <a:ext uri="{FF2B5EF4-FFF2-40B4-BE49-F238E27FC236}">
                  <a16:creationId xmlns:a16="http://schemas.microsoft.com/office/drawing/2014/main" id="{735C7694-71F1-A261-444E-48FE496305CE}"/>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5" name="AutoShape 5">
            <a:extLst>
              <a:ext uri="{FF2B5EF4-FFF2-40B4-BE49-F238E27FC236}">
                <a16:creationId xmlns:a16="http://schemas.microsoft.com/office/drawing/2014/main" id="{E23D9736-EBC6-34BA-B9F0-9EED387D42D7}"/>
              </a:ext>
            </a:extLst>
          </p:cNvPr>
          <p:cNvSpPr/>
          <p:nvPr/>
        </p:nvSpPr>
        <p:spPr>
          <a:xfrm>
            <a:off x="13918610" y="8394229"/>
            <a:ext cx="5185216" cy="5132702"/>
          </a:xfrm>
          <a:prstGeom prst="line">
            <a:avLst/>
          </a:prstGeom>
          <a:ln w="28575" cap="flat">
            <a:solidFill>
              <a:srgbClr val="8CA9AD"/>
            </a:solidFill>
            <a:prstDash val="solid"/>
            <a:headEnd type="none" w="sm" len="sm"/>
            <a:tailEnd type="none" w="sm" len="sm"/>
          </a:ln>
        </p:spPr>
      </p:sp>
      <p:sp>
        <p:nvSpPr>
          <p:cNvPr id="6" name="AutoShape 6">
            <a:extLst>
              <a:ext uri="{FF2B5EF4-FFF2-40B4-BE49-F238E27FC236}">
                <a16:creationId xmlns:a16="http://schemas.microsoft.com/office/drawing/2014/main" id="{153F3B7E-46A8-FACD-1CC3-D0FB6C3A7DC1}"/>
              </a:ext>
            </a:extLst>
          </p:cNvPr>
          <p:cNvSpPr/>
          <p:nvPr/>
        </p:nvSpPr>
        <p:spPr>
          <a:xfrm>
            <a:off x="13704664" y="8706905"/>
            <a:ext cx="5038853" cy="5038853"/>
          </a:xfrm>
          <a:prstGeom prst="line">
            <a:avLst/>
          </a:prstGeom>
          <a:ln w="28575" cap="flat">
            <a:solidFill>
              <a:srgbClr val="8CA9AD"/>
            </a:solidFill>
            <a:prstDash val="solid"/>
            <a:headEnd type="none" w="sm" len="sm"/>
            <a:tailEnd type="none" w="sm" len="sm"/>
          </a:ln>
        </p:spPr>
      </p:sp>
      <p:sp>
        <p:nvSpPr>
          <p:cNvPr id="7" name="AutoShape 7">
            <a:extLst>
              <a:ext uri="{FF2B5EF4-FFF2-40B4-BE49-F238E27FC236}">
                <a16:creationId xmlns:a16="http://schemas.microsoft.com/office/drawing/2014/main" id="{7192775E-A24A-8B61-1819-7F1A37633239}"/>
              </a:ext>
            </a:extLst>
          </p:cNvPr>
          <p:cNvSpPr/>
          <p:nvPr/>
        </p:nvSpPr>
        <p:spPr>
          <a:xfrm>
            <a:off x="13525062" y="9065375"/>
            <a:ext cx="4867141" cy="4867141"/>
          </a:xfrm>
          <a:prstGeom prst="line">
            <a:avLst/>
          </a:prstGeom>
          <a:ln w="28575" cap="flat">
            <a:solidFill>
              <a:srgbClr val="8CA9AD"/>
            </a:solidFill>
            <a:prstDash val="solid"/>
            <a:headEnd type="none" w="sm" len="sm"/>
            <a:tailEnd type="none" w="sm" len="sm"/>
          </a:ln>
        </p:spPr>
      </p:sp>
      <p:sp>
        <p:nvSpPr>
          <p:cNvPr id="8" name="AutoShape 8">
            <a:extLst>
              <a:ext uri="{FF2B5EF4-FFF2-40B4-BE49-F238E27FC236}">
                <a16:creationId xmlns:a16="http://schemas.microsoft.com/office/drawing/2014/main" id="{22827410-CE69-18E7-7E40-5B8BE229671F}"/>
              </a:ext>
            </a:extLst>
          </p:cNvPr>
          <p:cNvSpPr/>
          <p:nvPr/>
        </p:nvSpPr>
        <p:spPr>
          <a:xfrm>
            <a:off x="13398407" y="9451643"/>
            <a:ext cx="4690515" cy="4690515"/>
          </a:xfrm>
          <a:prstGeom prst="line">
            <a:avLst/>
          </a:prstGeom>
          <a:ln w="28575" cap="flat">
            <a:solidFill>
              <a:srgbClr val="8CA9AD"/>
            </a:solidFill>
            <a:prstDash val="solid"/>
            <a:headEnd type="none" w="sm" len="sm"/>
            <a:tailEnd type="none" w="sm" len="sm"/>
          </a:ln>
        </p:spPr>
      </p:sp>
      <p:sp>
        <p:nvSpPr>
          <p:cNvPr id="9" name="AutoShape 9">
            <a:extLst>
              <a:ext uri="{FF2B5EF4-FFF2-40B4-BE49-F238E27FC236}">
                <a16:creationId xmlns:a16="http://schemas.microsoft.com/office/drawing/2014/main" id="{4FDA5EFC-6225-FD86-F2BA-A791A2343E10}"/>
              </a:ext>
            </a:extLst>
          </p:cNvPr>
          <p:cNvSpPr/>
          <p:nvPr/>
        </p:nvSpPr>
        <p:spPr>
          <a:xfrm>
            <a:off x="13254553" y="9891320"/>
            <a:ext cx="4347674" cy="4347674"/>
          </a:xfrm>
          <a:prstGeom prst="line">
            <a:avLst/>
          </a:prstGeom>
          <a:ln w="28575" cap="flat">
            <a:solidFill>
              <a:srgbClr val="8CA9AD"/>
            </a:solidFill>
            <a:prstDash val="solid"/>
            <a:headEnd type="none" w="sm" len="sm"/>
            <a:tailEnd type="none" w="sm" len="sm"/>
          </a:ln>
        </p:spPr>
      </p:sp>
      <p:sp>
        <p:nvSpPr>
          <p:cNvPr id="10" name="TextBox 10">
            <a:extLst>
              <a:ext uri="{FF2B5EF4-FFF2-40B4-BE49-F238E27FC236}">
                <a16:creationId xmlns:a16="http://schemas.microsoft.com/office/drawing/2014/main" id="{37EEA7FC-A595-80A1-0F31-59BD76641A83}"/>
              </a:ext>
            </a:extLst>
          </p:cNvPr>
          <p:cNvSpPr txBox="1"/>
          <p:nvPr/>
        </p:nvSpPr>
        <p:spPr>
          <a:xfrm>
            <a:off x="2275145" y="726565"/>
            <a:ext cx="15015434" cy="1000274"/>
          </a:xfrm>
          <a:prstGeom prst="rect">
            <a:avLst/>
          </a:prstGeom>
        </p:spPr>
        <p:txBody>
          <a:bodyPr wrap="square" lIns="0" tIns="0" rIns="0" bIns="0" rtlCol="0" anchor="t">
            <a:spAutoFit/>
          </a:bodyPr>
          <a:lstStyle/>
          <a:p>
            <a:pPr algn="ctr">
              <a:lnSpc>
                <a:spcPts val="7800"/>
              </a:lnSpc>
            </a:pPr>
            <a:r>
              <a:rPr lang="en-US" sz="7800" b="1" dirty="0">
                <a:solidFill>
                  <a:srgbClr val="227C9D"/>
                </a:solidFill>
                <a:latin typeface="Times New Roman Bold"/>
                <a:ea typeface="Times New Roman Bold"/>
                <a:cs typeface="Times New Roman Bold"/>
                <a:sym typeface="Times New Roman Bold"/>
              </a:rPr>
              <a:t>PO’s, PSO’s and </a:t>
            </a:r>
            <a:r>
              <a:rPr lang="en-US" sz="7800" b="1">
                <a:solidFill>
                  <a:srgbClr val="227C9D"/>
                </a:solidFill>
                <a:latin typeface="Times New Roman Bold"/>
                <a:ea typeface="Times New Roman Bold"/>
                <a:cs typeface="Times New Roman Bold"/>
                <a:sym typeface="Times New Roman Bold"/>
              </a:rPr>
              <a:t>SDG’s Mapped</a:t>
            </a:r>
            <a:endParaRPr lang="en-US" sz="7800" b="1" dirty="0">
              <a:solidFill>
                <a:srgbClr val="227C9D"/>
              </a:solidFill>
              <a:latin typeface="Times New Roman Bold"/>
              <a:ea typeface="Times New Roman Bold"/>
              <a:cs typeface="Times New Roman Bold"/>
              <a:sym typeface="Times New Roman Bold"/>
            </a:endParaRPr>
          </a:p>
        </p:txBody>
      </p:sp>
      <p:grpSp>
        <p:nvGrpSpPr>
          <p:cNvPr id="12" name="Group 12">
            <a:extLst>
              <a:ext uri="{FF2B5EF4-FFF2-40B4-BE49-F238E27FC236}">
                <a16:creationId xmlns:a16="http://schemas.microsoft.com/office/drawing/2014/main" id="{C7A967B0-F29F-84AC-A119-E33B49EAE7DC}"/>
              </a:ext>
            </a:extLst>
          </p:cNvPr>
          <p:cNvGrpSpPr/>
          <p:nvPr/>
        </p:nvGrpSpPr>
        <p:grpSpPr>
          <a:xfrm rot="2700000">
            <a:off x="-1376391" y="-3093321"/>
            <a:ext cx="7415398" cy="3565095"/>
            <a:chOff x="0" y="0"/>
            <a:chExt cx="660400" cy="317500"/>
          </a:xfrm>
        </p:grpSpPr>
        <p:sp>
          <p:nvSpPr>
            <p:cNvPr id="13" name="Freeform 13">
              <a:extLst>
                <a:ext uri="{FF2B5EF4-FFF2-40B4-BE49-F238E27FC236}">
                  <a16:creationId xmlns:a16="http://schemas.microsoft.com/office/drawing/2014/main" id="{12BB0BB4-C3E6-0E85-1494-AC168EC34AAD}"/>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14" name="TextBox 14">
              <a:extLst>
                <a:ext uri="{FF2B5EF4-FFF2-40B4-BE49-F238E27FC236}">
                  <a16:creationId xmlns:a16="http://schemas.microsoft.com/office/drawing/2014/main" id="{578DF5FB-5DF9-FC37-43C4-77E24BF08893}"/>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15" name="AutoShape 15">
            <a:extLst>
              <a:ext uri="{FF2B5EF4-FFF2-40B4-BE49-F238E27FC236}">
                <a16:creationId xmlns:a16="http://schemas.microsoft.com/office/drawing/2014/main" id="{9AE1BA40-B281-55D1-1B15-0FD371CDA555}"/>
              </a:ext>
            </a:extLst>
          </p:cNvPr>
          <p:cNvSpPr/>
          <p:nvPr/>
        </p:nvSpPr>
        <p:spPr>
          <a:xfrm>
            <a:off x="-1839005" y="-2273771"/>
            <a:ext cx="5185216" cy="5132702"/>
          </a:xfrm>
          <a:prstGeom prst="line">
            <a:avLst/>
          </a:prstGeom>
          <a:ln w="28575" cap="flat">
            <a:solidFill>
              <a:srgbClr val="8CA9AD"/>
            </a:solidFill>
            <a:prstDash val="solid"/>
            <a:headEnd type="none" w="sm" len="sm"/>
            <a:tailEnd type="none" w="sm" len="sm"/>
          </a:ln>
        </p:spPr>
      </p:sp>
      <p:sp>
        <p:nvSpPr>
          <p:cNvPr id="16" name="AutoShape 16">
            <a:extLst>
              <a:ext uri="{FF2B5EF4-FFF2-40B4-BE49-F238E27FC236}">
                <a16:creationId xmlns:a16="http://schemas.microsoft.com/office/drawing/2014/main" id="{7C6C99C4-F3DA-BA84-9961-8089A0DDD754}"/>
              </a:ext>
            </a:extLst>
          </p:cNvPr>
          <p:cNvSpPr/>
          <p:nvPr/>
        </p:nvSpPr>
        <p:spPr>
          <a:xfrm>
            <a:off x="-2052951" y="-1961095"/>
            <a:ext cx="5038853" cy="5038853"/>
          </a:xfrm>
          <a:prstGeom prst="line">
            <a:avLst/>
          </a:prstGeom>
          <a:ln w="28575" cap="flat">
            <a:solidFill>
              <a:srgbClr val="8CA9AD"/>
            </a:solidFill>
            <a:prstDash val="solid"/>
            <a:headEnd type="none" w="sm" len="sm"/>
            <a:tailEnd type="none" w="sm" len="sm"/>
          </a:ln>
        </p:spPr>
      </p:sp>
      <p:sp>
        <p:nvSpPr>
          <p:cNvPr id="17" name="AutoShape 17">
            <a:extLst>
              <a:ext uri="{FF2B5EF4-FFF2-40B4-BE49-F238E27FC236}">
                <a16:creationId xmlns:a16="http://schemas.microsoft.com/office/drawing/2014/main" id="{4EF3DB80-0D28-4267-F21A-90144E41D098}"/>
              </a:ext>
            </a:extLst>
          </p:cNvPr>
          <p:cNvSpPr/>
          <p:nvPr/>
        </p:nvSpPr>
        <p:spPr>
          <a:xfrm>
            <a:off x="-2232553" y="-1602625"/>
            <a:ext cx="4867141" cy="4867141"/>
          </a:xfrm>
          <a:prstGeom prst="line">
            <a:avLst/>
          </a:prstGeom>
          <a:ln w="28575" cap="flat">
            <a:solidFill>
              <a:srgbClr val="8CA9AD"/>
            </a:solidFill>
            <a:prstDash val="solid"/>
            <a:headEnd type="none" w="sm" len="sm"/>
            <a:tailEnd type="none" w="sm" len="sm"/>
          </a:ln>
        </p:spPr>
      </p:sp>
      <p:sp>
        <p:nvSpPr>
          <p:cNvPr id="18" name="AutoShape 18">
            <a:extLst>
              <a:ext uri="{FF2B5EF4-FFF2-40B4-BE49-F238E27FC236}">
                <a16:creationId xmlns:a16="http://schemas.microsoft.com/office/drawing/2014/main" id="{80C47CAE-3FED-612E-0127-0436819CA81B}"/>
              </a:ext>
            </a:extLst>
          </p:cNvPr>
          <p:cNvSpPr/>
          <p:nvPr/>
        </p:nvSpPr>
        <p:spPr>
          <a:xfrm>
            <a:off x="-2359208" y="-1216357"/>
            <a:ext cx="4690515" cy="4690515"/>
          </a:xfrm>
          <a:prstGeom prst="line">
            <a:avLst/>
          </a:prstGeom>
          <a:ln w="28575" cap="flat">
            <a:solidFill>
              <a:srgbClr val="8CA9AD"/>
            </a:solidFill>
            <a:prstDash val="solid"/>
            <a:headEnd type="none" w="sm" len="sm"/>
            <a:tailEnd type="none" w="sm" len="sm"/>
          </a:ln>
        </p:spPr>
      </p:sp>
      <p:sp>
        <p:nvSpPr>
          <p:cNvPr id="19" name="AutoShape 19">
            <a:extLst>
              <a:ext uri="{FF2B5EF4-FFF2-40B4-BE49-F238E27FC236}">
                <a16:creationId xmlns:a16="http://schemas.microsoft.com/office/drawing/2014/main" id="{951F9F58-D2A5-625C-988F-3968D97DBA6C}"/>
              </a:ext>
            </a:extLst>
          </p:cNvPr>
          <p:cNvSpPr/>
          <p:nvPr/>
        </p:nvSpPr>
        <p:spPr>
          <a:xfrm>
            <a:off x="-2503062" y="-776680"/>
            <a:ext cx="4347674" cy="4347674"/>
          </a:xfrm>
          <a:prstGeom prst="line">
            <a:avLst/>
          </a:prstGeom>
          <a:ln w="28575" cap="flat">
            <a:solidFill>
              <a:srgbClr val="8CA9AD"/>
            </a:solidFill>
            <a:prstDash val="solid"/>
            <a:headEnd type="none" w="sm" len="sm"/>
            <a:tailEnd type="none" w="sm" len="sm"/>
          </a:ln>
        </p:spPr>
      </p:sp>
      <p:sp>
        <p:nvSpPr>
          <p:cNvPr id="20" name="AutoShape 20">
            <a:extLst>
              <a:ext uri="{FF2B5EF4-FFF2-40B4-BE49-F238E27FC236}">
                <a16:creationId xmlns:a16="http://schemas.microsoft.com/office/drawing/2014/main" id="{16E240CF-897D-15ED-CBA6-60E16937F259}"/>
              </a:ext>
            </a:extLst>
          </p:cNvPr>
          <p:cNvSpPr/>
          <p:nvPr/>
        </p:nvSpPr>
        <p:spPr>
          <a:xfrm>
            <a:off x="-2623881" y="-332957"/>
            <a:ext cx="3963599" cy="3985594"/>
          </a:xfrm>
          <a:prstGeom prst="line">
            <a:avLst/>
          </a:prstGeom>
          <a:ln w="28575" cap="flat">
            <a:solidFill>
              <a:srgbClr val="8CA9AD"/>
            </a:solidFill>
            <a:prstDash val="solid"/>
            <a:headEnd type="none" w="sm" len="sm"/>
            <a:tailEnd type="none" w="sm" len="sm"/>
          </a:ln>
        </p:spPr>
      </p:sp>
      <p:sp>
        <p:nvSpPr>
          <p:cNvPr id="21" name="AutoShape 21">
            <a:extLst>
              <a:ext uri="{FF2B5EF4-FFF2-40B4-BE49-F238E27FC236}">
                <a16:creationId xmlns:a16="http://schemas.microsoft.com/office/drawing/2014/main" id="{EF5AC0C1-31F5-8F4A-6B27-EC8F6A9C4957}"/>
              </a:ext>
            </a:extLst>
          </p:cNvPr>
          <p:cNvSpPr/>
          <p:nvPr/>
        </p:nvSpPr>
        <p:spPr>
          <a:xfrm>
            <a:off x="-2598114" y="228677"/>
            <a:ext cx="3377485" cy="3360058"/>
          </a:xfrm>
          <a:prstGeom prst="line">
            <a:avLst/>
          </a:prstGeom>
          <a:ln w="28575" cap="flat">
            <a:solidFill>
              <a:srgbClr val="8CA9AD"/>
            </a:solidFill>
            <a:prstDash val="solid"/>
            <a:headEnd type="none" w="sm" len="sm"/>
            <a:tailEnd type="none" w="sm" len="sm"/>
          </a:ln>
        </p:spPr>
      </p:sp>
      <p:sp>
        <p:nvSpPr>
          <p:cNvPr id="22" name="AutoShape 22">
            <a:extLst>
              <a:ext uri="{FF2B5EF4-FFF2-40B4-BE49-F238E27FC236}">
                <a16:creationId xmlns:a16="http://schemas.microsoft.com/office/drawing/2014/main" id="{B78ACFC8-F4E8-802A-7676-191A5A7E04C9}"/>
              </a:ext>
            </a:extLst>
          </p:cNvPr>
          <p:cNvSpPr/>
          <p:nvPr/>
        </p:nvSpPr>
        <p:spPr>
          <a:xfrm>
            <a:off x="-2509797" y="905760"/>
            <a:ext cx="2628598" cy="2671969"/>
          </a:xfrm>
          <a:prstGeom prst="line">
            <a:avLst/>
          </a:prstGeom>
          <a:ln w="28575" cap="flat">
            <a:solidFill>
              <a:srgbClr val="8CA9AD"/>
            </a:solidFill>
            <a:prstDash val="solid"/>
            <a:headEnd type="none" w="sm" len="sm"/>
            <a:tailEnd type="none" w="sm" len="sm"/>
          </a:ln>
        </p:spPr>
      </p:sp>
      <p:sp>
        <p:nvSpPr>
          <p:cNvPr id="23" name="Freeform 23">
            <a:extLst>
              <a:ext uri="{FF2B5EF4-FFF2-40B4-BE49-F238E27FC236}">
                <a16:creationId xmlns:a16="http://schemas.microsoft.com/office/drawing/2014/main" id="{EB3B5E17-7E5F-EF21-967F-C744232F1502}"/>
              </a:ext>
            </a:extLst>
          </p:cNvPr>
          <p:cNvSpPr/>
          <p:nvPr/>
        </p:nvSpPr>
        <p:spPr>
          <a:xfrm>
            <a:off x="17204191"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a:extLst>
              <a:ext uri="{FF2B5EF4-FFF2-40B4-BE49-F238E27FC236}">
                <a16:creationId xmlns:a16="http://schemas.microsoft.com/office/drawing/2014/main" id="{32944890-DC9A-CBE1-F3D6-9C1B93E5D7E9}"/>
              </a:ext>
            </a:extLst>
          </p:cNvPr>
          <p:cNvSpPr/>
          <p:nvPr/>
        </p:nvSpPr>
        <p:spPr>
          <a:xfrm>
            <a:off x="17005114"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a:extLst>
              <a:ext uri="{FF2B5EF4-FFF2-40B4-BE49-F238E27FC236}">
                <a16:creationId xmlns:a16="http://schemas.microsoft.com/office/drawing/2014/main" id="{0217939A-A1DD-0881-3D1A-0150C7EBD1D6}"/>
              </a:ext>
            </a:extLst>
          </p:cNvPr>
          <p:cNvSpPr/>
          <p:nvPr/>
        </p:nvSpPr>
        <p:spPr>
          <a:xfrm rot="5400000">
            <a:off x="1028700"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a:extLst>
              <a:ext uri="{FF2B5EF4-FFF2-40B4-BE49-F238E27FC236}">
                <a16:creationId xmlns:a16="http://schemas.microsoft.com/office/drawing/2014/main" id="{BE2F5974-F7C4-DE36-4793-52F5333317DA}"/>
              </a:ext>
            </a:extLst>
          </p:cNvPr>
          <p:cNvSpPr/>
          <p:nvPr/>
        </p:nvSpPr>
        <p:spPr>
          <a:xfrm>
            <a:off x="17659708" y="194186"/>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a:extLst>
              <a:ext uri="{FF2B5EF4-FFF2-40B4-BE49-F238E27FC236}">
                <a16:creationId xmlns:a16="http://schemas.microsoft.com/office/drawing/2014/main" id="{E8B084ED-4EAF-40FF-9BF2-A32053C0B432}"/>
              </a:ext>
            </a:extLst>
          </p:cNvPr>
          <p:cNvSpPr/>
          <p:nvPr/>
        </p:nvSpPr>
        <p:spPr>
          <a:xfrm rot="5400000" flipH="1" flipV="1">
            <a:off x="17259300" y="102870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a:extLst>
              <a:ext uri="{FF2B5EF4-FFF2-40B4-BE49-F238E27FC236}">
                <a16:creationId xmlns:a16="http://schemas.microsoft.com/office/drawing/2014/main" id="{DC166F02-384F-6D6B-8465-FF4FDEAD5BE5}"/>
              </a:ext>
            </a:extLst>
          </p:cNvPr>
          <p:cNvSpPr/>
          <p:nvPr/>
        </p:nvSpPr>
        <p:spPr>
          <a:xfrm rot="-10800000">
            <a:off x="1028700" y="100012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a:extLst>
              <a:ext uri="{FF2B5EF4-FFF2-40B4-BE49-F238E27FC236}">
                <a16:creationId xmlns:a16="http://schemas.microsoft.com/office/drawing/2014/main" id="{7F92030F-4EF5-60FC-6020-D52680F474ED}"/>
              </a:ext>
            </a:extLst>
          </p:cNvPr>
          <p:cNvSpPr/>
          <p:nvPr/>
        </p:nvSpPr>
        <p:spPr>
          <a:xfrm rot="5400000" flipH="1" flipV="1">
            <a:off x="-55109" y="90576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Freeform 30">
            <a:extLst>
              <a:ext uri="{FF2B5EF4-FFF2-40B4-BE49-F238E27FC236}">
                <a16:creationId xmlns:a16="http://schemas.microsoft.com/office/drawing/2014/main" id="{6A383BF1-DF3A-2931-70BD-D9F437FFE1D5}"/>
              </a:ext>
            </a:extLst>
          </p:cNvPr>
          <p:cNvSpPr/>
          <p:nvPr/>
        </p:nvSpPr>
        <p:spPr>
          <a:xfrm rot="-10800000" flipH="1" flipV="1">
            <a:off x="-55109" y="-83684"/>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a:extLst>
              <a:ext uri="{FF2B5EF4-FFF2-40B4-BE49-F238E27FC236}">
                <a16:creationId xmlns:a16="http://schemas.microsoft.com/office/drawing/2014/main" id="{82F1C1A5-E1D9-E014-C67B-36160603E356}"/>
              </a:ext>
            </a:extLst>
          </p:cNvPr>
          <p:cNvSpPr/>
          <p:nvPr/>
        </p:nvSpPr>
        <p:spPr>
          <a:xfrm>
            <a:off x="17746096" y="841015"/>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Freeform 32">
            <a:extLst>
              <a:ext uri="{FF2B5EF4-FFF2-40B4-BE49-F238E27FC236}">
                <a16:creationId xmlns:a16="http://schemas.microsoft.com/office/drawing/2014/main" id="{27FDA02B-3EFE-4D09-FE29-BA5F511A3346}"/>
              </a:ext>
            </a:extLst>
          </p:cNvPr>
          <p:cNvSpPr/>
          <p:nvPr/>
        </p:nvSpPr>
        <p:spPr>
          <a:xfrm>
            <a:off x="0"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3" name="Freeform 33">
            <a:extLst>
              <a:ext uri="{FF2B5EF4-FFF2-40B4-BE49-F238E27FC236}">
                <a16:creationId xmlns:a16="http://schemas.microsoft.com/office/drawing/2014/main" id="{800A7364-2E86-F87D-D8EA-3D563DBFCDA7}"/>
              </a:ext>
            </a:extLst>
          </p:cNvPr>
          <p:cNvSpPr/>
          <p:nvPr/>
        </p:nvSpPr>
        <p:spPr>
          <a:xfrm rot="-10800000">
            <a:off x="0"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4" name="Freeform 34">
            <a:extLst>
              <a:ext uri="{FF2B5EF4-FFF2-40B4-BE49-F238E27FC236}">
                <a16:creationId xmlns:a16="http://schemas.microsoft.com/office/drawing/2014/main" id="{222ACEAA-9D6C-B1B3-52D0-FC80190BE00A}"/>
              </a:ext>
            </a:extLst>
          </p:cNvPr>
          <p:cNvSpPr/>
          <p:nvPr/>
        </p:nvSpPr>
        <p:spPr>
          <a:xfrm rot="-5400000">
            <a:off x="15921305" y="816500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Freeform 35">
            <a:extLst>
              <a:ext uri="{FF2B5EF4-FFF2-40B4-BE49-F238E27FC236}">
                <a16:creationId xmlns:a16="http://schemas.microsoft.com/office/drawing/2014/main" id="{59730D95-D5EE-4CC6-C8E4-2CA127BC942C}"/>
              </a:ext>
            </a:extLst>
          </p:cNvPr>
          <p:cNvSpPr/>
          <p:nvPr/>
        </p:nvSpPr>
        <p:spPr>
          <a:xfrm rot="-10800000">
            <a:off x="15921305"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a:extLst>
              <a:ext uri="{FF2B5EF4-FFF2-40B4-BE49-F238E27FC236}">
                <a16:creationId xmlns:a16="http://schemas.microsoft.com/office/drawing/2014/main" id="{2BB7FD2B-32C1-3B43-A170-DB2C95AC0AEB}"/>
              </a:ext>
            </a:extLst>
          </p:cNvPr>
          <p:cNvSpPr/>
          <p:nvPr/>
        </p:nvSpPr>
        <p:spPr>
          <a:xfrm rot="5400000">
            <a:off x="17005114"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4">
            <a:extLst>
              <a:ext uri="{FF2B5EF4-FFF2-40B4-BE49-F238E27FC236}">
                <a16:creationId xmlns:a16="http://schemas.microsoft.com/office/drawing/2014/main" id="{FAE5E231-4CFA-C7D3-298F-FB7ABBC5F2C8}"/>
              </a:ext>
            </a:extLst>
          </p:cNvPr>
          <p:cNvSpPr/>
          <p:nvPr/>
        </p:nvSpPr>
        <p:spPr>
          <a:xfrm>
            <a:off x="16286823" y="8913035"/>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10"/>
            <a:stretch>
              <a:fillRect l="-636332" t="-3636" b="-15051"/>
            </a:stretch>
          </a:blipFill>
        </p:spPr>
      </p:sp>
      <p:sp>
        <p:nvSpPr>
          <p:cNvPr id="11" name="TextBox 10">
            <a:extLst>
              <a:ext uri="{FF2B5EF4-FFF2-40B4-BE49-F238E27FC236}">
                <a16:creationId xmlns:a16="http://schemas.microsoft.com/office/drawing/2014/main" id="{11B0A7D6-41D1-4BEE-8B35-6AA04A2A3918}"/>
              </a:ext>
            </a:extLst>
          </p:cNvPr>
          <p:cNvSpPr txBox="1"/>
          <p:nvPr/>
        </p:nvSpPr>
        <p:spPr>
          <a:xfrm>
            <a:off x="201017" y="3692100"/>
            <a:ext cx="9841443" cy="4031873"/>
          </a:xfrm>
          <a:prstGeom prst="rect">
            <a:avLst/>
          </a:prstGeom>
          <a:noFill/>
        </p:spPr>
        <p:txBody>
          <a:bodyPr wrap="square" rtlCol="0">
            <a:spAutoFit/>
          </a:bodyPr>
          <a:lstStyle/>
          <a:p>
            <a:pPr algn="ctr"/>
            <a:r>
              <a:rPr lang="en-IN" sz="3200" b="1" i="0" dirty="0">
                <a:effectLst/>
              </a:rPr>
              <a:t>Program Outcomes (PO’s)</a:t>
            </a:r>
          </a:p>
          <a:p>
            <a:pPr algn="ctr"/>
            <a:endParaRPr lang="en-IN" sz="3200" b="1" i="0" dirty="0">
              <a:effectLst/>
            </a:endParaRPr>
          </a:p>
          <a:p>
            <a:pPr algn="l">
              <a:buFont typeface="Arial" panose="020B0604020202020204" pitchFamily="34" charset="0"/>
              <a:buChar char="•"/>
            </a:pPr>
            <a:r>
              <a:rPr lang="en-IN" sz="3200" b="1" i="0" dirty="0">
                <a:effectLst/>
              </a:rPr>
              <a:t> PO1:</a:t>
            </a:r>
            <a:r>
              <a:rPr lang="en-IN" sz="3200" b="0" i="0" dirty="0">
                <a:effectLst/>
              </a:rPr>
              <a:t> Apply knowledge of AI, ML, and cognitive science</a:t>
            </a:r>
          </a:p>
          <a:p>
            <a:pPr algn="l">
              <a:buFont typeface="Arial" panose="020B0604020202020204" pitchFamily="34" charset="0"/>
              <a:buChar char="•"/>
            </a:pPr>
            <a:r>
              <a:rPr lang="en-IN" sz="3200" b="1" i="0" dirty="0">
                <a:effectLst/>
              </a:rPr>
              <a:t> PO2:</a:t>
            </a:r>
            <a:r>
              <a:rPr lang="en-IN" sz="3200" b="0" i="0" dirty="0">
                <a:effectLst/>
              </a:rPr>
              <a:t> Identify and analyse complex engineering problems</a:t>
            </a:r>
          </a:p>
          <a:p>
            <a:pPr algn="l">
              <a:buFont typeface="Arial" panose="020B0604020202020204" pitchFamily="34" charset="0"/>
              <a:buChar char="•"/>
            </a:pPr>
            <a:r>
              <a:rPr lang="en-IN" sz="3200" b="1" i="0" dirty="0">
                <a:effectLst/>
              </a:rPr>
              <a:t> PO3:</a:t>
            </a:r>
            <a:r>
              <a:rPr lang="en-IN" sz="3200" b="0" i="0" dirty="0">
                <a:effectLst/>
              </a:rPr>
              <a:t> Design innovative AI systems</a:t>
            </a:r>
          </a:p>
          <a:p>
            <a:pPr algn="l">
              <a:buFont typeface="Arial" panose="020B0604020202020204" pitchFamily="34" charset="0"/>
              <a:buChar char="•"/>
            </a:pPr>
            <a:r>
              <a:rPr lang="en-IN" sz="3200" b="1" i="0" dirty="0">
                <a:effectLst/>
              </a:rPr>
              <a:t> PO4:</a:t>
            </a:r>
            <a:r>
              <a:rPr lang="en-IN" sz="3200" b="0" i="0" dirty="0">
                <a:effectLst/>
              </a:rPr>
              <a:t> Conduct experiments and interpret results</a:t>
            </a:r>
          </a:p>
          <a:p>
            <a:pPr algn="l">
              <a:buFont typeface="Arial" panose="020B0604020202020204" pitchFamily="34" charset="0"/>
              <a:buChar char="•"/>
            </a:pPr>
            <a:r>
              <a:rPr lang="en-IN" sz="3200" b="1" i="0" dirty="0">
                <a:effectLst/>
              </a:rPr>
              <a:t> PO5:</a:t>
            </a:r>
            <a:r>
              <a:rPr lang="en-IN" sz="3200" b="0" i="0" dirty="0">
                <a:effectLst/>
              </a:rPr>
              <a:t> Use modern AI tools and frameworks</a:t>
            </a:r>
          </a:p>
          <a:p>
            <a:endParaRPr lang="en-IN" sz="3200" dirty="0"/>
          </a:p>
        </p:txBody>
      </p:sp>
      <p:sp>
        <p:nvSpPr>
          <p:cNvPr id="38" name="TextBox 37">
            <a:extLst>
              <a:ext uri="{FF2B5EF4-FFF2-40B4-BE49-F238E27FC236}">
                <a16:creationId xmlns:a16="http://schemas.microsoft.com/office/drawing/2014/main" id="{2C27220E-0CCC-4EE1-DC97-8E15FA049A0F}"/>
              </a:ext>
            </a:extLst>
          </p:cNvPr>
          <p:cNvSpPr txBox="1"/>
          <p:nvPr/>
        </p:nvSpPr>
        <p:spPr>
          <a:xfrm>
            <a:off x="10610236" y="3579943"/>
            <a:ext cx="7764382" cy="4031873"/>
          </a:xfrm>
          <a:prstGeom prst="rect">
            <a:avLst/>
          </a:prstGeom>
          <a:noFill/>
        </p:spPr>
        <p:txBody>
          <a:bodyPr wrap="square" rtlCol="0">
            <a:spAutoFit/>
          </a:bodyPr>
          <a:lstStyle/>
          <a:p>
            <a:r>
              <a:rPr lang="en-IN" sz="3200" b="1" dirty="0"/>
              <a:t>Program Specific Outcomes (PSO’s)</a:t>
            </a:r>
          </a:p>
          <a:p>
            <a:endParaRPr lang="en-IN" sz="3200" b="1" dirty="0"/>
          </a:p>
          <a:p>
            <a:pPr>
              <a:buFont typeface="Arial" panose="020B0604020202020204" pitchFamily="34" charset="0"/>
              <a:buChar char="•"/>
            </a:pPr>
            <a:r>
              <a:rPr lang="en-IN" sz="3200" dirty="0"/>
              <a:t> Develop intelligent systems using ML/DL</a:t>
            </a:r>
          </a:p>
          <a:p>
            <a:pPr>
              <a:buFont typeface="Arial" panose="020B0604020202020204" pitchFamily="34" charset="0"/>
              <a:buChar char="•"/>
            </a:pPr>
            <a:r>
              <a:rPr lang="en-IN" sz="3200" dirty="0"/>
              <a:t> Integrate interdisciplinary knowledge </a:t>
            </a:r>
          </a:p>
          <a:p>
            <a:r>
              <a:rPr lang="en-IN" sz="3200" dirty="0"/>
              <a:t>  (Cognitive Science + AI)</a:t>
            </a:r>
          </a:p>
          <a:p>
            <a:pPr>
              <a:buFont typeface="Arial" panose="020B0604020202020204" pitchFamily="34" charset="0"/>
              <a:buChar char="•"/>
            </a:pPr>
            <a:r>
              <a:rPr lang="en-IN" sz="3200" dirty="0"/>
              <a:t> Design reliable and interpretable AI </a:t>
            </a:r>
          </a:p>
          <a:p>
            <a:r>
              <a:rPr lang="en-IN" sz="3200" dirty="0"/>
              <a:t>   architectures</a:t>
            </a:r>
          </a:p>
          <a:p>
            <a:endParaRPr lang="en-IN" sz="3200" dirty="0"/>
          </a:p>
        </p:txBody>
      </p:sp>
      <p:sp>
        <p:nvSpPr>
          <p:cNvPr id="39" name="TextBox 38">
            <a:extLst>
              <a:ext uri="{FF2B5EF4-FFF2-40B4-BE49-F238E27FC236}">
                <a16:creationId xmlns:a16="http://schemas.microsoft.com/office/drawing/2014/main" id="{A14826D7-88FC-AAA5-568D-98FCC7A2699C}"/>
              </a:ext>
            </a:extLst>
          </p:cNvPr>
          <p:cNvSpPr txBox="1"/>
          <p:nvPr/>
        </p:nvSpPr>
        <p:spPr>
          <a:xfrm>
            <a:off x="1533899" y="7555756"/>
            <a:ext cx="11669157" cy="3046988"/>
          </a:xfrm>
          <a:prstGeom prst="rect">
            <a:avLst/>
          </a:prstGeom>
          <a:noFill/>
        </p:spPr>
        <p:txBody>
          <a:bodyPr wrap="none" rtlCol="0">
            <a:spAutoFit/>
          </a:bodyPr>
          <a:lstStyle/>
          <a:p>
            <a:pPr algn="ctr"/>
            <a:r>
              <a:rPr lang="en-IN" sz="3200" b="1" dirty="0"/>
              <a:t>SDG Mapping</a:t>
            </a:r>
          </a:p>
          <a:p>
            <a:pPr algn="ctr"/>
            <a:endParaRPr lang="en-IN" sz="3200" b="1" dirty="0"/>
          </a:p>
          <a:p>
            <a:pPr>
              <a:buFont typeface="Arial" panose="020B0604020202020204" pitchFamily="34" charset="0"/>
              <a:buChar char="•"/>
            </a:pPr>
            <a:r>
              <a:rPr lang="en-IN" sz="3200" b="1" dirty="0"/>
              <a:t> SDG 9:</a:t>
            </a:r>
            <a:r>
              <a:rPr lang="en-IN" sz="3200" dirty="0"/>
              <a:t> Industry, Innovation, and Infrastructure</a:t>
            </a:r>
          </a:p>
          <a:p>
            <a:pPr>
              <a:buFont typeface="Arial" panose="020B0604020202020204" pitchFamily="34" charset="0"/>
              <a:buChar char="•"/>
            </a:pPr>
            <a:r>
              <a:rPr lang="en-IN" sz="3200" b="1" dirty="0"/>
              <a:t> SDG 16:</a:t>
            </a:r>
            <a:r>
              <a:rPr lang="en-IN" sz="3200" dirty="0"/>
              <a:t> Peace, Justice, and Strong Institutions (Reliable AI Systems)</a:t>
            </a:r>
          </a:p>
          <a:p>
            <a:pPr>
              <a:buFont typeface="Arial" panose="020B0604020202020204" pitchFamily="34" charset="0"/>
              <a:buChar char="•"/>
            </a:pPr>
            <a:r>
              <a:rPr lang="en-IN" sz="3200" b="1" dirty="0"/>
              <a:t> SDG 3:</a:t>
            </a:r>
            <a:r>
              <a:rPr lang="en-IN" sz="3200" dirty="0"/>
              <a:t> Good Health and Well-being (Future application in medical)</a:t>
            </a:r>
          </a:p>
          <a:p>
            <a:endParaRPr lang="en-IN" sz="3200" dirty="0"/>
          </a:p>
        </p:txBody>
      </p:sp>
      <p:cxnSp>
        <p:nvCxnSpPr>
          <p:cNvPr id="41" name="Straight Connector 40">
            <a:extLst>
              <a:ext uri="{FF2B5EF4-FFF2-40B4-BE49-F238E27FC236}">
                <a16:creationId xmlns:a16="http://schemas.microsoft.com/office/drawing/2014/main" id="{8A27D0DD-AAC1-1A57-F9E8-C03BA77901C3}"/>
              </a:ext>
            </a:extLst>
          </p:cNvPr>
          <p:cNvCxnSpPr>
            <a:cxnSpLocks/>
          </p:cNvCxnSpPr>
          <p:nvPr/>
        </p:nvCxnSpPr>
        <p:spPr>
          <a:xfrm>
            <a:off x="10210800" y="3652637"/>
            <a:ext cx="0" cy="3700663"/>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91244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4E746-20CC-6579-7280-63BDF27479C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A03309-219B-1354-8A8F-898C0A30AC33}"/>
              </a:ext>
            </a:extLst>
          </p:cNvPr>
          <p:cNvGrpSpPr/>
          <p:nvPr/>
        </p:nvGrpSpPr>
        <p:grpSpPr>
          <a:xfrm rot="2700000">
            <a:off x="14381224" y="7574679"/>
            <a:ext cx="7415398" cy="3565095"/>
            <a:chOff x="0" y="0"/>
            <a:chExt cx="660400" cy="317500"/>
          </a:xfrm>
        </p:grpSpPr>
        <p:sp>
          <p:nvSpPr>
            <p:cNvPr id="3" name="Freeform 3">
              <a:extLst>
                <a:ext uri="{FF2B5EF4-FFF2-40B4-BE49-F238E27FC236}">
                  <a16:creationId xmlns:a16="http://schemas.microsoft.com/office/drawing/2014/main" id="{8CD33A01-09DF-10E7-FA4F-B2E8E554295C}"/>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a:extLst>
                <a:ext uri="{FF2B5EF4-FFF2-40B4-BE49-F238E27FC236}">
                  <a16:creationId xmlns:a16="http://schemas.microsoft.com/office/drawing/2014/main" id="{BDC4FF9B-AB38-9E20-6B83-DBB6057D69B7}"/>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5" name="AutoShape 5">
            <a:extLst>
              <a:ext uri="{FF2B5EF4-FFF2-40B4-BE49-F238E27FC236}">
                <a16:creationId xmlns:a16="http://schemas.microsoft.com/office/drawing/2014/main" id="{683A9A51-2958-BC8D-A19C-FB59D47986E1}"/>
              </a:ext>
            </a:extLst>
          </p:cNvPr>
          <p:cNvSpPr/>
          <p:nvPr/>
        </p:nvSpPr>
        <p:spPr>
          <a:xfrm>
            <a:off x="13918610" y="8394229"/>
            <a:ext cx="5185216" cy="5132702"/>
          </a:xfrm>
          <a:prstGeom prst="line">
            <a:avLst/>
          </a:prstGeom>
          <a:ln w="28575" cap="flat">
            <a:solidFill>
              <a:srgbClr val="8CA9AD"/>
            </a:solidFill>
            <a:prstDash val="solid"/>
            <a:headEnd type="none" w="sm" len="sm"/>
            <a:tailEnd type="none" w="sm" len="sm"/>
          </a:ln>
        </p:spPr>
      </p:sp>
      <p:sp>
        <p:nvSpPr>
          <p:cNvPr id="6" name="AutoShape 6">
            <a:extLst>
              <a:ext uri="{FF2B5EF4-FFF2-40B4-BE49-F238E27FC236}">
                <a16:creationId xmlns:a16="http://schemas.microsoft.com/office/drawing/2014/main" id="{18BC6129-5B63-069D-63FE-8C00148E27A7}"/>
              </a:ext>
            </a:extLst>
          </p:cNvPr>
          <p:cNvSpPr/>
          <p:nvPr/>
        </p:nvSpPr>
        <p:spPr>
          <a:xfrm>
            <a:off x="13704664" y="8706905"/>
            <a:ext cx="5038853" cy="5038853"/>
          </a:xfrm>
          <a:prstGeom prst="line">
            <a:avLst/>
          </a:prstGeom>
          <a:ln w="28575" cap="flat">
            <a:solidFill>
              <a:srgbClr val="8CA9AD"/>
            </a:solidFill>
            <a:prstDash val="solid"/>
            <a:headEnd type="none" w="sm" len="sm"/>
            <a:tailEnd type="none" w="sm" len="sm"/>
          </a:ln>
        </p:spPr>
      </p:sp>
      <p:sp>
        <p:nvSpPr>
          <p:cNvPr id="7" name="AutoShape 7">
            <a:extLst>
              <a:ext uri="{FF2B5EF4-FFF2-40B4-BE49-F238E27FC236}">
                <a16:creationId xmlns:a16="http://schemas.microsoft.com/office/drawing/2014/main" id="{88940D95-441B-1C74-FDEF-024DB9D9CF1F}"/>
              </a:ext>
            </a:extLst>
          </p:cNvPr>
          <p:cNvSpPr/>
          <p:nvPr/>
        </p:nvSpPr>
        <p:spPr>
          <a:xfrm>
            <a:off x="13525062" y="9065375"/>
            <a:ext cx="4867141" cy="4867141"/>
          </a:xfrm>
          <a:prstGeom prst="line">
            <a:avLst/>
          </a:prstGeom>
          <a:ln w="28575" cap="flat">
            <a:solidFill>
              <a:srgbClr val="8CA9AD"/>
            </a:solidFill>
            <a:prstDash val="solid"/>
            <a:headEnd type="none" w="sm" len="sm"/>
            <a:tailEnd type="none" w="sm" len="sm"/>
          </a:ln>
        </p:spPr>
      </p:sp>
      <p:sp>
        <p:nvSpPr>
          <p:cNvPr id="8" name="AutoShape 8">
            <a:extLst>
              <a:ext uri="{FF2B5EF4-FFF2-40B4-BE49-F238E27FC236}">
                <a16:creationId xmlns:a16="http://schemas.microsoft.com/office/drawing/2014/main" id="{671230DB-6F94-2A49-155D-A9D206EE4A4A}"/>
              </a:ext>
            </a:extLst>
          </p:cNvPr>
          <p:cNvSpPr/>
          <p:nvPr/>
        </p:nvSpPr>
        <p:spPr>
          <a:xfrm>
            <a:off x="13398407" y="9451643"/>
            <a:ext cx="4690515" cy="4690515"/>
          </a:xfrm>
          <a:prstGeom prst="line">
            <a:avLst/>
          </a:prstGeom>
          <a:ln w="28575" cap="flat">
            <a:solidFill>
              <a:srgbClr val="8CA9AD"/>
            </a:solidFill>
            <a:prstDash val="solid"/>
            <a:headEnd type="none" w="sm" len="sm"/>
            <a:tailEnd type="none" w="sm" len="sm"/>
          </a:ln>
        </p:spPr>
      </p:sp>
      <p:sp>
        <p:nvSpPr>
          <p:cNvPr id="9" name="AutoShape 9">
            <a:extLst>
              <a:ext uri="{FF2B5EF4-FFF2-40B4-BE49-F238E27FC236}">
                <a16:creationId xmlns:a16="http://schemas.microsoft.com/office/drawing/2014/main" id="{F1846600-B88F-6BBB-B6AC-DE1E0D8087EF}"/>
              </a:ext>
            </a:extLst>
          </p:cNvPr>
          <p:cNvSpPr/>
          <p:nvPr/>
        </p:nvSpPr>
        <p:spPr>
          <a:xfrm>
            <a:off x="13254553" y="9891320"/>
            <a:ext cx="4347674" cy="4347674"/>
          </a:xfrm>
          <a:prstGeom prst="line">
            <a:avLst/>
          </a:prstGeom>
          <a:ln w="28575" cap="flat">
            <a:solidFill>
              <a:srgbClr val="8CA9AD"/>
            </a:solidFill>
            <a:prstDash val="solid"/>
            <a:headEnd type="none" w="sm" len="sm"/>
            <a:tailEnd type="none" w="sm" len="sm"/>
          </a:ln>
        </p:spPr>
      </p:sp>
      <p:sp>
        <p:nvSpPr>
          <p:cNvPr id="10" name="TextBox 10">
            <a:extLst>
              <a:ext uri="{FF2B5EF4-FFF2-40B4-BE49-F238E27FC236}">
                <a16:creationId xmlns:a16="http://schemas.microsoft.com/office/drawing/2014/main" id="{B2F85C39-F78F-56ED-1366-2113F7487535}"/>
              </a:ext>
            </a:extLst>
          </p:cNvPr>
          <p:cNvSpPr txBox="1"/>
          <p:nvPr/>
        </p:nvSpPr>
        <p:spPr>
          <a:xfrm>
            <a:off x="2275145" y="726565"/>
            <a:ext cx="15015434" cy="1000274"/>
          </a:xfrm>
          <a:prstGeom prst="rect">
            <a:avLst/>
          </a:prstGeom>
        </p:spPr>
        <p:txBody>
          <a:bodyPr wrap="square" lIns="0" tIns="0" rIns="0" bIns="0" rtlCol="0" anchor="t">
            <a:spAutoFit/>
          </a:bodyPr>
          <a:lstStyle/>
          <a:p>
            <a:pPr algn="ctr">
              <a:lnSpc>
                <a:spcPts val="7800"/>
              </a:lnSpc>
            </a:pPr>
            <a:r>
              <a:rPr lang="en-US" sz="7800" b="1" dirty="0">
                <a:solidFill>
                  <a:srgbClr val="227C9D"/>
                </a:solidFill>
                <a:latin typeface="Times New Roman Bold"/>
                <a:ea typeface="Times New Roman Bold"/>
                <a:cs typeface="Times New Roman Bold"/>
                <a:sym typeface="Times New Roman Bold"/>
              </a:rPr>
              <a:t>References</a:t>
            </a:r>
          </a:p>
        </p:txBody>
      </p:sp>
      <p:grpSp>
        <p:nvGrpSpPr>
          <p:cNvPr id="12" name="Group 12">
            <a:extLst>
              <a:ext uri="{FF2B5EF4-FFF2-40B4-BE49-F238E27FC236}">
                <a16:creationId xmlns:a16="http://schemas.microsoft.com/office/drawing/2014/main" id="{5EBA4377-C02F-4CD3-0926-9C6665B3E0A9}"/>
              </a:ext>
            </a:extLst>
          </p:cNvPr>
          <p:cNvGrpSpPr/>
          <p:nvPr/>
        </p:nvGrpSpPr>
        <p:grpSpPr>
          <a:xfrm rot="2700000">
            <a:off x="-1376391" y="-3093321"/>
            <a:ext cx="7415398" cy="3565095"/>
            <a:chOff x="0" y="0"/>
            <a:chExt cx="660400" cy="317500"/>
          </a:xfrm>
        </p:grpSpPr>
        <p:sp>
          <p:nvSpPr>
            <p:cNvPr id="13" name="Freeform 13">
              <a:extLst>
                <a:ext uri="{FF2B5EF4-FFF2-40B4-BE49-F238E27FC236}">
                  <a16:creationId xmlns:a16="http://schemas.microsoft.com/office/drawing/2014/main" id="{A1CBE41C-5CBC-CD1C-F19E-09D54434D7D0}"/>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14" name="TextBox 14">
              <a:extLst>
                <a:ext uri="{FF2B5EF4-FFF2-40B4-BE49-F238E27FC236}">
                  <a16:creationId xmlns:a16="http://schemas.microsoft.com/office/drawing/2014/main" id="{379D06DE-8C13-AD24-3719-5704452CB065}"/>
                </a:ext>
              </a:extLst>
            </p:cNvPr>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15" name="AutoShape 15">
            <a:extLst>
              <a:ext uri="{FF2B5EF4-FFF2-40B4-BE49-F238E27FC236}">
                <a16:creationId xmlns:a16="http://schemas.microsoft.com/office/drawing/2014/main" id="{3E842520-1605-B7BA-45CE-2C97CA7F8C94}"/>
              </a:ext>
            </a:extLst>
          </p:cNvPr>
          <p:cNvSpPr/>
          <p:nvPr/>
        </p:nvSpPr>
        <p:spPr>
          <a:xfrm>
            <a:off x="-1839005" y="-2273771"/>
            <a:ext cx="5185216" cy="5132702"/>
          </a:xfrm>
          <a:prstGeom prst="line">
            <a:avLst/>
          </a:prstGeom>
          <a:ln w="28575" cap="flat">
            <a:solidFill>
              <a:srgbClr val="8CA9AD"/>
            </a:solidFill>
            <a:prstDash val="solid"/>
            <a:headEnd type="none" w="sm" len="sm"/>
            <a:tailEnd type="none" w="sm" len="sm"/>
          </a:ln>
        </p:spPr>
      </p:sp>
      <p:sp>
        <p:nvSpPr>
          <p:cNvPr id="16" name="AutoShape 16">
            <a:extLst>
              <a:ext uri="{FF2B5EF4-FFF2-40B4-BE49-F238E27FC236}">
                <a16:creationId xmlns:a16="http://schemas.microsoft.com/office/drawing/2014/main" id="{89CF32FC-D56A-9B3B-93FD-9289EBC51CB2}"/>
              </a:ext>
            </a:extLst>
          </p:cNvPr>
          <p:cNvSpPr/>
          <p:nvPr/>
        </p:nvSpPr>
        <p:spPr>
          <a:xfrm>
            <a:off x="-2052951" y="-1961095"/>
            <a:ext cx="5038853" cy="5038853"/>
          </a:xfrm>
          <a:prstGeom prst="line">
            <a:avLst/>
          </a:prstGeom>
          <a:ln w="28575" cap="flat">
            <a:solidFill>
              <a:srgbClr val="8CA9AD"/>
            </a:solidFill>
            <a:prstDash val="solid"/>
            <a:headEnd type="none" w="sm" len="sm"/>
            <a:tailEnd type="none" w="sm" len="sm"/>
          </a:ln>
        </p:spPr>
      </p:sp>
      <p:sp>
        <p:nvSpPr>
          <p:cNvPr id="17" name="AutoShape 17">
            <a:extLst>
              <a:ext uri="{FF2B5EF4-FFF2-40B4-BE49-F238E27FC236}">
                <a16:creationId xmlns:a16="http://schemas.microsoft.com/office/drawing/2014/main" id="{C03C5F6D-1AEF-43F1-910C-468F35B54C32}"/>
              </a:ext>
            </a:extLst>
          </p:cNvPr>
          <p:cNvSpPr/>
          <p:nvPr/>
        </p:nvSpPr>
        <p:spPr>
          <a:xfrm>
            <a:off x="-2232553" y="-1602625"/>
            <a:ext cx="4867141" cy="4867141"/>
          </a:xfrm>
          <a:prstGeom prst="line">
            <a:avLst/>
          </a:prstGeom>
          <a:ln w="28575" cap="flat">
            <a:solidFill>
              <a:srgbClr val="8CA9AD"/>
            </a:solidFill>
            <a:prstDash val="solid"/>
            <a:headEnd type="none" w="sm" len="sm"/>
            <a:tailEnd type="none" w="sm" len="sm"/>
          </a:ln>
        </p:spPr>
      </p:sp>
      <p:sp>
        <p:nvSpPr>
          <p:cNvPr id="18" name="AutoShape 18">
            <a:extLst>
              <a:ext uri="{FF2B5EF4-FFF2-40B4-BE49-F238E27FC236}">
                <a16:creationId xmlns:a16="http://schemas.microsoft.com/office/drawing/2014/main" id="{00428321-007A-33BC-D93E-6215A16CA33D}"/>
              </a:ext>
            </a:extLst>
          </p:cNvPr>
          <p:cNvSpPr/>
          <p:nvPr/>
        </p:nvSpPr>
        <p:spPr>
          <a:xfrm>
            <a:off x="-2359208" y="-1216357"/>
            <a:ext cx="4690515" cy="4690515"/>
          </a:xfrm>
          <a:prstGeom prst="line">
            <a:avLst/>
          </a:prstGeom>
          <a:ln w="28575" cap="flat">
            <a:solidFill>
              <a:srgbClr val="8CA9AD"/>
            </a:solidFill>
            <a:prstDash val="solid"/>
            <a:headEnd type="none" w="sm" len="sm"/>
            <a:tailEnd type="none" w="sm" len="sm"/>
          </a:ln>
        </p:spPr>
      </p:sp>
      <p:sp>
        <p:nvSpPr>
          <p:cNvPr id="19" name="AutoShape 19">
            <a:extLst>
              <a:ext uri="{FF2B5EF4-FFF2-40B4-BE49-F238E27FC236}">
                <a16:creationId xmlns:a16="http://schemas.microsoft.com/office/drawing/2014/main" id="{AAAFA13A-CF2C-4F3E-3E0A-4503C366C385}"/>
              </a:ext>
            </a:extLst>
          </p:cNvPr>
          <p:cNvSpPr/>
          <p:nvPr/>
        </p:nvSpPr>
        <p:spPr>
          <a:xfrm>
            <a:off x="-2503062" y="-776680"/>
            <a:ext cx="4347674" cy="4347674"/>
          </a:xfrm>
          <a:prstGeom prst="line">
            <a:avLst/>
          </a:prstGeom>
          <a:ln w="28575" cap="flat">
            <a:solidFill>
              <a:srgbClr val="8CA9AD"/>
            </a:solidFill>
            <a:prstDash val="solid"/>
            <a:headEnd type="none" w="sm" len="sm"/>
            <a:tailEnd type="none" w="sm" len="sm"/>
          </a:ln>
        </p:spPr>
      </p:sp>
      <p:sp>
        <p:nvSpPr>
          <p:cNvPr id="20" name="AutoShape 20">
            <a:extLst>
              <a:ext uri="{FF2B5EF4-FFF2-40B4-BE49-F238E27FC236}">
                <a16:creationId xmlns:a16="http://schemas.microsoft.com/office/drawing/2014/main" id="{4D2D6022-5DA8-BB60-D102-A1D7D0C7E8AD}"/>
              </a:ext>
            </a:extLst>
          </p:cNvPr>
          <p:cNvSpPr/>
          <p:nvPr/>
        </p:nvSpPr>
        <p:spPr>
          <a:xfrm>
            <a:off x="-2623881" y="-332957"/>
            <a:ext cx="3963599" cy="3985594"/>
          </a:xfrm>
          <a:prstGeom prst="line">
            <a:avLst/>
          </a:prstGeom>
          <a:ln w="28575" cap="flat">
            <a:solidFill>
              <a:srgbClr val="8CA9AD"/>
            </a:solidFill>
            <a:prstDash val="solid"/>
            <a:headEnd type="none" w="sm" len="sm"/>
            <a:tailEnd type="none" w="sm" len="sm"/>
          </a:ln>
        </p:spPr>
      </p:sp>
      <p:sp>
        <p:nvSpPr>
          <p:cNvPr id="21" name="AutoShape 21">
            <a:extLst>
              <a:ext uri="{FF2B5EF4-FFF2-40B4-BE49-F238E27FC236}">
                <a16:creationId xmlns:a16="http://schemas.microsoft.com/office/drawing/2014/main" id="{D1218DE8-2539-CB1B-8804-85DBC38F4857}"/>
              </a:ext>
            </a:extLst>
          </p:cNvPr>
          <p:cNvSpPr/>
          <p:nvPr/>
        </p:nvSpPr>
        <p:spPr>
          <a:xfrm>
            <a:off x="-2598114" y="228677"/>
            <a:ext cx="3377485" cy="3360058"/>
          </a:xfrm>
          <a:prstGeom prst="line">
            <a:avLst/>
          </a:prstGeom>
          <a:ln w="28575" cap="flat">
            <a:solidFill>
              <a:srgbClr val="8CA9AD"/>
            </a:solidFill>
            <a:prstDash val="solid"/>
            <a:headEnd type="none" w="sm" len="sm"/>
            <a:tailEnd type="none" w="sm" len="sm"/>
          </a:ln>
        </p:spPr>
      </p:sp>
      <p:sp>
        <p:nvSpPr>
          <p:cNvPr id="22" name="AutoShape 22">
            <a:extLst>
              <a:ext uri="{FF2B5EF4-FFF2-40B4-BE49-F238E27FC236}">
                <a16:creationId xmlns:a16="http://schemas.microsoft.com/office/drawing/2014/main" id="{B18CBA4E-882E-503F-E0FB-6DCED85FE98C}"/>
              </a:ext>
            </a:extLst>
          </p:cNvPr>
          <p:cNvSpPr/>
          <p:nvPr/>
        </p:nvSpPr>
        <p:spPr>
          <a:xfrm>
            <a:off x="-2509797" y="905760"/>
            <a:ext cx="2628598" cy="2671969"/>
          </a:xfrm>
          <a:prstGeom prst="line">
            <a:avLst/>
          </a:prstGeom>
          <a:ln w="28575" cap="flat">
            <a:solidFill>
              <a:srgbClr val="8CA9AD"/>
            </a:solidFill>
            <a:prstDash val="solid"/>
            <a:headEnd type="none" w="sm" len="sm"/>
            <a:tailEnd type="none" w="sm" len="sm"/>
          </a:ln>
        </p:spPr>
      </p:sp>
      <p:sp>
        <p:nvSpPr>
          <p:cNvPr id="23" name="Freeform 23">
            <a:extLst>
              <a:ext uri="{FF2B5EF4-FFF2-40B4-BE49-F238E27FC236}">
                <a16:creationId xmlns:a16="http://schemas.microsoft.com/office/drawing/2014/main" id="{AD7DE670-DEFD-081F-CF1B-D92438C9A12F}"/>
              </a:ext>
            </a:extLst>
          </p:cNvPr>
          <p:cNvSpPr/>
          <p:nvPr/>
        </p:nvSpPr>
        <p:spPr>
          <a:xfrm>
            <a:off x="17204191"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a:extLst>
              <a:ext uri="{FF2B5EF4-FFF2-40B4-BE49-F238E27FC236}">
                <a16:creationId xmlns:a16="http://schemas.microsoft.com/office/drawing/2014/main" id="{2B203732-FC1B-5087-437B-9EA18591D674}"/>
              </a:ext>
            </a:extLst>
          </p:cNvPr>
          <p:cNvSpPr/>
          <p:nvPr/>
        </p:nvSpPr>
        <p:spPr>
          <a:xfrm>
            <a:off x="17005114"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Freeform 25">
            <a:extLst>
              <a:ext uri="{FF2B5EF4-FFF2-40B4-BE49-F238E27FC236}">
                <a16:creationId xmlns:a16="http://schemas.microsoft.com/office/drawing/2014/main" id="{DC767576-44A8-1E29-C24B-507819FE4223}"/>
              </a:ext>
            </a:extLst>
          </p:cNvPr>
          <p:cNvSpPr/>
          <p:nvPr/>
        </p:nvSpPr>
        <p:spPr>
          <a:xfrm rot="5400000">
            <a:off x="1028700"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a:extLst>
              <a:ext uri="{FF2B5EF4-FFF2-40B4-BE49-F238E27FC236}">
                <a16:creationId xmlns:a16="http://schemas.microsoft.com/office/drawing/2014/main" id="{F24DF226-BB11-EF9E-4828-AE00F13DCFF4}"/>
              </a:ext>
            </a:extLst>
          </p:cNvPr>
          <p:cNvSpPr/>
          <p:nvPr/>
        </p:nvSpPr>
        <p:spPr>
          <a:xfrm>
            <a:off x="17659708" y="194186"/>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a:extLst>
              <a:ext uri="{FF2B5EF4-FFF2-40B4-BE49-F238E27FC236}">
                <a16:creationId xmlns:a16="http://schemas.microsoft.com/office/drawing/2014/main" id="{7854500E-959D-5B82-4C8D-F55598884F45}"/>
              </a:ext>
            </a:extLst>
          </p:cNvPr>
          <p:cNvSpPr/>
          <p:nvPr/>
        </p:nvSpPr>
        <p:spPr>
          <a:xfrm rot="5400000" flipH="1" flipV="1">
            <a:off x="17259300" y="102870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8" name="Freeform 28">
            <a:extLst>
              <a:ext uri="{FF2B5EF4-FFF2-40B4-BE49-F238E27FC236}">
                <a16:creationId xmlns:a16="http://schemas.microsoft.com/office/drawing/2014/main" id="{2A1EB82A-141F-C493-CC5B-AE1C5AB81F30}"/>
              </a:ext>
            </a:extLst>
          </p:cNvPr>
          <p:cNvSpPr/>
          <p:nvPr/>
        </p:nvSpPr>
        <p:spPr>
          <a:xfrm rot="-10800000">
            <a:off x="1028700" y="100012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a:extLst>
              <a:ext uri="{FF2B5EF4-FFF2-40B4-BE49-F238E27FC236}">
                <a16:creationId xmlns:a16="http://schemas.microsoft.com/office/drawing/2014/main" id="{9C46D0A9-1486-DC67-EA9F-8E02B821376B}"/>
              </a:ext>
            </a:extLst>
          </p:cNvPr>
          <p:cNvSpPr/>
          <p:nvPr/>
        </p:nvSpPr>
        <p:spPr>
          <a:xfrm rot="5400000" flipH="1" flipV="1">
            <a:off x="-55109" y="90576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0" name="Freeform 30">
            <a:extLst>
              <a:ext uri="{FF2B5EF4-FFF2-40B4-BE49-F238E27FC236}">
                <a16:creationId xmlns:a16="http://schemas.microsoft.com/office/drawing/2014/main" id="{1E4A479E-9C14-2C6C-B41E-70BA0EA38B82}"/>
              </a:ext>
            </a:extLst>
          </p:cNvPr>
          <p:cNvSpPr/>
          <p:nvPr/>
        </p:nvSpPr>
        <p:spPr>
          <a:xfrm rot="-10800000" flipH="1" flipV="1">
            <a:off x="-55109" y="-83684"/>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Freeform 31">
            <a:extLst>
              <a:ext uri="{FF2B5EF4-FFF2-40B4-BE49-F238E27FC236}">
                <a16:creationId xmlns:a16="http://schemas.microsoft.com/office/drawing/2014/main" id="{58A77280-C63F-2507-71DF-6688CEA8D71C}"/>
              </a:ext>
            </a:extLst>
          </p:cNvPr>
          <p:cNvSpPr/>
          <p:nvPr/>
        </p:nvSpPr>
        <p:spPr>
          <a:xfrm>
            <a:off x="17746096" y="841015"/>
            <a:ext cx="1083809" cy="108380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2" name="Freeform 32">
            <a:extLst>
              <a:ext uri="{FF2B5EF4-FFF2-40B4-BE49-F238E27FC236}">
                <a16:creationId xmlns:a16="http://schemas.microsoft.com/office/drawing/2014/main" id="{34936F83-F6DC-BBDA-C897-874F7E629936}"/>
              </a:ext>
            </a:extLst>
          </p:cNvPr>
          <p:cNvSpPr/>
          <p:nvPr/>
        </p:nvSpPr>
        <p:spPr>
          <a:xfrm>
            <a:off x="0"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3" name="Freeform 33">
            <a:extLst>
              <a:ext uri="{FF2B5EF4-FFF2-40B4-BE49-F238E27FC236}">
                <a16:creationId xmlns:a16="http://schemas.microsoft.com/office/drawing/2014/main" id="{067581AE-B484-7695-199D-0F87428EE0F7}"/>
              </a:ext>
            </a:extLst>
          </p:cNvPr>
          <p:cNvSpPr/>
          <p:nvPr/>
        </p:nvSpPr>
        <p:spPr>
          <a:xfrm rot="-10800000">
            <a:off x="0"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4" name="Freeform 34">
            <a:extLst>
              <a:ext uri="{FF2B5EF4-FFF2-40B4-BE49-F238E27FC236}">
                <a16:creationId xmlns:a16="http://schemas.microsoft.com/office/drawing/2014/main" id="{9E0EB9E9-1F22-F575-8F73-9174C2314D97}"/>
              </a:ext>
            </a:extLst>
          </p:cNvPr>
          <p:cNvSpPr/>
          <p:nvPr/>
        </p:nvSpPr>
        <p:spPr>
          <a:xfrm rot="-5400000">
            <a:off x="15921305" y="816500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Freeform 35">
            <a:extLst>
              <a:ext uri="{FF2B5EF4-FFF2-40B4-BE49-F238E27FC236}">
                <a16:creationId xmlns:a16="http://schemas.microsoft.com/office/drawing/2014/main" id="{BEE1305A-30BB-E76D-8DAD-40A4C90AA574}"/>
              </a:ext>
            </a:extLst>
          </p:cNvPr>
          <p:cNvSpPr/>
          <p:nvPr/>
        </p:nvSpPr>
        <p:spPr>
          <a:xfrm rot="-10800000">
            <a:off x="15921305"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a:extLst>
              <a:ext uri="{FF2B5EF4-FFF2-40B4-BE49-F238E27FC236}">
                <a16:creationId xmlns:a16="http://schemas.microsoft.com/office/drawing/2014/main" id="{53395AE9-4B5B-F87F-8318-CE0F3CBDCB83}"/>
              </a:ext>
            </a:extLst>
          </p:cNvPr>
          <p:cNvSpPr/>
          <p:nvPr/>
        </p:nvSpPr>
        <p:spPr>
          <a:xfrm rot="5400000">
            <a:off x="17005114" y="9203191"/>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4">
            <a:extLst>
              <a:ext uri="{FF2B5EF4-FFF2-40B4-BE49-F238E27FC236}">
                <a16:creationId xmlns:a16="http://schemas.microsoft.com/office/drawing/2014/main" id="{C356689F-CBEF-70FB-132C-57800543C9DF}"/>
              </a:ext>
            </a:extLst>
          </p:cNvPr>
          <p:cNvSpPr/>
          <p:nvPr/>
        </p:nvSpPr>
        <p:spPr>
          <a:xfrm>
            <a:off x="16286823" y="8913035"/>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10"/>
            <a:stretch>
              <a:fillRect l="-636332" t="-3636" b="-15051"/>
            </a:stretch>
          </a:blipFill>
        </p:spPr>
      </p:sp>
      <p:sp>
        <p:nvSpPr>
          <p:cNvPr id="11" name="TextBox 10">
            <a:extLst>
              <a:ext uri="{FF2B5EF4-FFF2-40B4-BE49-F238E27FC236}">
                <a16:creationId xmlns:a16="http://schemas.microsoft.com/office/drawing/2014/main" id="{A313D34B-587C-4CF4-B898-EF4E11FFFEE8}"/>
              </a:ext>
            </a:extLst>
          </p:cNvPr>
          <p:cNvSpPr txBox="1"/>
          <p:nvPr/>
        </p:nvSpPr>
        <p:spPr>
          <a:xfrm>
            <a:off x="2718027" y="3579397"/>
            <a:ext cx="14828991" cy="4992457"/>
          </a:xfrm>
          <a:prstGeom prst="rect">
            <a:avLst/>
          </a:prstGeom>
          <a:noFill/>
        </p:spPr>
        <p:txBody>
          <a:bodyPr wrap="square" rtlCol="0">
            <a:spAutoFit/>
          </a:bodyPr>
          <a:lstStyle/>
          <a:p>
            <a:pPr algn="l">
              <a:lnSpc>
                <a:spcPct val="150000"/>
              </a:lnSpc>
              <a:buFont typeface="+mj-lt"/>
              <a:buAutoNum type="arabicPeriod"/>
            </a:pPr>
            <a:r>
              <a:rPr lang="en-IN" sz="3600" i="0" dirty="0">
                <a:effectLst/>
              </a:rPr>
              <a:t> </a:t>
            </a:r>
            <a:r>
              <a:rPr lang="en-IN" sz="3600" b="1" i="0" dirty="0">
                <a:effectLst/>
              </a:rPr>
              <a:t>LLM-ACTR</a:t>
            </a:r>
            <a:r>
              <a:rPr lang="en-IN" sz="3600" b="0" i="0" dirty="0">
                <a:effectLst/>
              </a:rPr>
              <a:t>: Integrating ACT-R with Large Language Models (2024)</a:t>
            </a:r>
          </a:p>
          <a:p>
            <a:pPr algn="l">
              <a:lnSpc>
                <a:spcPct val="150000"/>
              </a:lnSpc>
              <a:buFont typeface="+mj-lt"/>
              <a:buAutoNum type="arabicPeriod"/>
            </a:pPr>
            <a:r>
              <a:rPr lang="en-IN" sz="3600" i="0" dirty="0">
                <a:effectLst/>
              </a:rPr>
              <a:t> </a:t>
            </a:r>
            <a:r>
              <a:rPr lang="en-IN" sz="3600" b="1" i="0" dirty="0">
                <a:effectLst/>
              </a:rPr>
              <a:t>Neuro-Symbolic AI</a:t>
            </a:r>
            <a:r>
              <a:rPr lang="en-IN" sz="3600" b="0" i="0" dirty="0">
                <a:effectLst/>
              </a:rPr>
              <a:t>: Combining Learning and Reasoning (Survey Paper)</a:t>
            </a:r>
          </a:p>
          <a:p>
            <a:pPr algn="l">
              <a:lnSpc>
                <a:spcPct val="150000"/>
              </a:lnSpc>
              <a:buFont typeface="+mj-lt"/>
              <a:buAutoNum type="arabicPeriod"/>
            </a:pPr>
            <a:r>
              <a:rPr lang="en-IN" sz="3600" b="0" i="0" dirty="0">
                <a:effectLst/>
              </a:rPr>
              <a:t> Chain-of-Thought Prompting for Large Language Models</a:t>
            </a:r>
          </a:p>
          <a:p>
            <a:pPr algn="l">
              <a:lnSpc>
                <a:spcPct val="150000"/>
              </a:lnSpc>
              <a:buFont typeface="+mj-lt"/>
              <a:buAutoNum type="arabicPeriod"/>
            </a:pPr>
            <a:r>
              <a:rPr lang="en-IN" sz="3600" i="0" dirty="0">
                <a:effectLst/>
              </a:rPr>
              <a:t> </a:t>
            </a:r>
            <a:r>
              <a:rPr lang="en-IN" sz="3600" b="1" i="0" dirty="0">
                <a:effectLst/>
              </a:rPr>
              <a:t>Hallucination in Large Language Models</a:t>
            </a:r>
            <a:r>
              <a:rPr lang="en-IN" sz="3600" b="0" i="0" dirty="0">
                <a:effectLst/>
              </a:rPr>
              <a:t>: Causes and Mitigation Strategies</a:t>
            </a:r>
          </a:p>
          <a:p>
            <a:pPr algn="l">
              <a:lnSpc>
                <a:spcPct val="150000"/>
              </a:lnSpc>
              <a:buFont typeface="+mj-lt"/>
              <a:buAutoNum type="arabicPeriod"/>
            </a:pPr>
            <a:r>
              <a:rPr lang="en-IN" sz="3600" b="0" i="0" dirty="0">
                <a:effectLst/>
              </a:rPr>
              <a:t> ACT-R Cognitive Architecture Documentation</a:t>
            </a:r>
          </a:p>
          <a:p>
            <a:pPr>
              <a:lnSpc>
                <a:spcPct val="150000"/>
              </a:lnSpc>
            </a:pPr>
            <a:endParaRPr lang="en-IN" sz="3600" dirty="0"/>
          </a:p>
        </p:txBody>
      </p:sp>
    </p:spTree>
    <p:extLst>
      <p:ext uri="{BB962C8B-B14F-4D97-AF65-F5344CB8AC3E}">
        <p14:creationId xmlns:p14="http://schemas.microsoft.com/office/powerpoint/2010/main" val="1467514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extBox 2"/>
          <p:cNvSpPr txBox="1"/>
          <p:nvPr/>
        </p:nvSpPr>
        <p:spPr>
          <a:xfrm>
            <a:off x="3833915" y="4189410"/>
            <a:ext cx="10620170" cy="1657984"/>
          </a:xfrm>
          <a:prstGeom prst="rect">
            <a:avLst/>
          </a:prstGeom>
        </p:spPr>
        <p:txBody>
          <a:bodyPr lIns="0" tIns="0" rIns="0" bIns="0" rtlCol="0" anchor="t">
            <a:spAutoFit/>
          </a:bodyPr>
          <a:lstStyle/>
          <a:p>
            <a:pPr algn="ctr">
              <a:lnSpc>
                <a:spcPts val="12399"/>
              </a:lnSpc>
            </a:pPr>
            <a:r>
              <a:rPr lang="en-US" sz="12399" b="1">
                <a:solidFill>
                  <a:srgbClr val="227C9D"/>
                </a:solidFill>
                <a:latin typeface="Kollektif Bold"/>
                <a:ea typeface="Kollektif Bold"/>
                <a:cs typeface="Kollektif Bold"/>
                <a:sym typeface="Kollektif Bold"/>
              </a:rPr>
              <a:t>THANK YOU</a:t>
            </a:r>
          </a:p>
        </p:txBody>
      </p:sp>
      <p:sp>
        <p:nvSpPr>
          <p:cNvPr id="3" name="Freeform 3"/>
          <p:cNvSpPr/>
          <p:nvPr/>
        </p:nvSpPr>
        <p:spPr>
          <a:xfrm>
            <a:off x="17204191"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7204191" y="1028700"/>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5400000" flipH="1" flipV="1">
            <a:off x="17204191" y="2112509"/>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6120382" y="-551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rot="5400000">
            <a:off x="15036573" y="1028700"/>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10800000">
            <a:off x="16120382" y="211250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rot="-10800000" flipH="1" flipV="1">
            <a:off x="15036573" y="2112509"/>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5400000" flipH="1" flipV="1">
            <a:off x="17259300" y="9268923"/>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10800000" flipH="1" flipV="1">
            <a:off x="17259300" y="9360970"/>
            <a:ext cx="1083809" cy="108380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rot="-10800000">
            <a:off x="9525" y="7044155"/>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083809" y="7072730"/>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Freeform 14"/>
          <p:cNvSpPr/>
          <p:nvPr/>
        </p:nvSpPr>
        <p:spPr>
          <a:xfrm>
            <a:off x="0" y="8156539"/>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rot="-10800000">
            <a:off x="0"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Freeform 16"/>
          <p:cNvSpPr/>
          <p:nvPr/>
        </p:nvSpPr>
        <p:spPr>
          <a:xfrm rot="-5400000">
            <a:off x="1083809" y="9240348"/>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7" name="Freeform 17"/>
          <p:cNvSpPr/>
          <p:nvPr/>
        </p:nvSpPr>
        <p:spPr>
          <a:xfrm rot="-10800000">
            <a:off x="3321750" y="9268923"/>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8" name="Freeform 18"/>
          <p:cNvSpPr/>
          <p:nvPr/>
        </p:nvSpPr>
        <p:spPr>
          <a:xfrm>
            <a:off x="3321750" y="8185114"/>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Freeform 19"/>
          <p:cNvSpPr/>
          <p:nvPr/>
        </p:nvSpPr>
        <p:spPr>
          <a:xfrm rot="5400000">
            <a:off x="4405559" y="9268923"/>
            <a:ext cx="1083809" cy="108380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0" name="Group 20"/>
          <p:cNvGrpSpPr/>
          <p:nvPr/>
        </p:nvGrpSpPr>
        <p:grpSpPr>
          <a:xfrm>
            <a:off x="13123603" y="5475036"/>
            <a:ext cx="8847511" cy="8855676"/>
            <a:chOff x="0" y="0"/>
            <a:chExt cx="11796681" cy="11807568"/>
          </a:xfrm>
        </p:grpSpPr>
        <p:grpSp>
          <p:nvGrpSpPr>
            <p:cNvPr id="21" name="Group 21"/>
            <p:cNvGrpSpPr/>
            <p:nvPr/>
          </p:nvGrpSpPr>
          <p:grpSpPr>
            <a:xfrm rot="2700000">
              <a:off x="1676828" y="2799524"/>
              <a:ext cx="9887197" cy="4753460"/>
              <a:chOff x="0" y="0"/>
              <a:chExt cx="660400" cy="317500"/>
            </a:xfrm>
          </p:grpSpPr>
          <p:sp>
            <p:nvSpPr>
              <p:cNvPr id="22" name="Freeform 22"/>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23" name="TextBox 23"/>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24" name="AutoShape 24"/>
            <p:cNvSpPr/>
            <p:nvPr/>
          </p:nvSpPr>
          <p:spPr>
            <a:xfrm>
              <a:off x="1060010" y="3892256"/>
              <a:ext cx="6913622" cy="6843603"/>
            </a:xfrm>
            <a:prstGeom prst="line">
              <a:avLst/>
            </a:prstGeom>
            <a:ln w="38100" cap="flat">
              <a:solidFill>
                <a:srgbClr val="8CA9AD"/>
              </a:solidFill>
              <a:prstDash val="solid"/>
              <a:headEnd type="none" w="sm" len="sm"/>
              <a:tailEnd type="none" w="sm" len="sm"/>
            </a:ln>
          </p:spPr>
        </p:sp>
        <p:sp>
          <p:nvSpPr>
            <p:cNvPr id="25" name="AutoShape 25"/>
            <p:cNvSpPr/>
            <p:nvPr/>
          </p:nvSpPr>
          <p:spPr>
            <a:xfrm>
              <a:off x="774748" y="4309159"/>
              <a:ext cx="6718471" cy="6718471"/>
            </a:xfrm>
            <a:prstGeom prst="line">
              <a:avLst/>
            </a:prstGeom>
            <a:ln w="38100" cap="flat">
              <a:solidFill>
                <a:srgbClr val="8CA9AD"/>
              </a:solidFill>
              <a:prstDash val="solid"/>
              <a:headEnd type="none" w="sm" len="sm"/>
              <a:tailEnd type="none" w="sm" len="sm"/>
            </a:ln>
          </p:spPr>
        </p:sp>
        <p:sp>
          <p:nvSpPr>
            <p:cNvPr id="26" name="AutoShape 26"/>
            <p:cNvSpPr/>
            <p:nvPr/>
          </p:nvSpPr>
          <p:spPr>
            <a:xfrm>
              <a:off x="535279" y="4787119"/>
              <a:ext cx="6489522" cy="6489522"/>
            </a:xfrm>
            <a:prstGeom prst="line">
              <a:avLst/>
            </a:prstGeom>
            <a:ln w="38100" cap="flat">
              <a:solidFill>
                <a:srgbClr val="8CA9AD"/>
              </a:solidFill>
              <a:prstDash val="solid"/>
              <a:headEnd type="none" w="sm" len="sm"/>
              <a:tailEnd type="none" w="sm" len="sm"/>
            </a:ln>
          </p:spPr>
        </p:sp>
        <p:sp>
          <p:nvSpPr>
            <p:cNvPr id="27" name="AutoShape 27"/>
            <p:cNvSpPr/>
            <p:nvPr/>
          </p:nvSpPr>
          <p:spPr>
            <a:xfrm>
              <a:off x="366406" y="5302142"/>
              <a:ext cx="6254021" cy="6254021"/>
            </a:xfrm>
            <a:prstGeom prst="line">
              <a:avLst/>
            </a:prstGeom>
            <a:ln w="38100" cap="flat">
              <a:solidFill>
                <a:srgbClr val="8CA9AD"/>
              </a:solidFill>
              <a:prstDash val="solid"/>
              <a:headEnd type="none" w="sm" len="sm"/>
              <a:tailEnd type="none" w="sm" len="sm"/>
            </a:ln>
          </p:spPr>
        </p:sp>
        <p:sp>
          <p:nvSpPr>
            <p:cNvPr id="28" name="AutoShape 28"/>
            <p:cNvSpPr/>
            <p:nvPr/>
          </p:nvSpPr>
          <p:spPr>
            <a:xfrm>
              <a:off x="174601" y="5888378"/>
              <a:ext cx="5796899" cy="5796899"/>
            </a:xfrm>
            <a:prstGeom prst="line">
              <a:avLst/>
            </a:prstGeom>
            <a:ln w="38100" cap="flat">
              <a:solidFill>
                <a:srgbClr val="8CA9AD"/>
              </a:solidFill>
              <a:prstDash val="solid"/>
              <a:headEnd type="none" w="sm" len="sm"/>
              <a:tailEnd type="none" w="sm" len="sm"/>
            </a:ln>
          </p:spPr>
        </p:sp>
        <p:sp>
          <p:nvSpPr>
            <p:cNvPr id="29" name="AutoShape 29"/>
            <p:cNvSpPr/>
            <p:nvPr/>
          </p:nvSpPr>
          <p:spPr>
            <a:xfrm>
              <a:off x="13508" y="6480010"/>
              <a:ext cx="5284799" cy="5314125"/>
            </a:xfrm>
            <a:prstGeom prst="line">
              <a:avLst/>
            </a:prstGeom>
            <a:ln w="38100" cap="flat">
              <a:solidFill>
                <a:srgbClr val="8CA9AD"/>
              </a:solidFill>
              <a:prstDash val="solid"/>
              <a:headEnd type="none" w="sm" len="sm"/>
              <a:tailEnd type="none" w="sm" len="sm"/>
            </a:ln>
          </p:spPr>
        </p:sp>
        <p:sp>
          <p:nvSpPr>
            <p:cNvPr id="30" name="AutoShape 30"/>
            <p:cNvSpPr/>
            <p:nvPr/>
          </p:nvSpPr>
          <p:spPr>
            <a:xfrm>
              <a:off x="47865" y="7228854"/>
              <a:ext cx="4503313" cy="4480077"/>
            </a:xfrm>
            <a:prstGeom prst="line">
              <a:avLst/>
            </a:prstGeom>
            <a:ln w="38100" cap="flat">
              <a:solidFill>
                <a:srgbClr val="8CA9AD"/>
              </a:solidFill>
              <a:prstDash val="solid"/>
              <a:headEnd type="none" w="sm" len="sm"/>
              <a:tailEnd type="none" w="sm" len="sm"/>
            </a:ln>
          </p:spPr>
        </p:sp>
        <p:sp>
          <p:nvSpPr>
            <p:cNvPr id="31" name="AutoShape 31"/>
            <p:cNvSpPr/>
            <p:nvPr/>
          </p:nvSpPr>
          <p:spPr>
            <a:xfrm>
              <a:off x="165620" y="8131631"/>
              <a:ext cx="3504797" cy="3562626"/>
            </a:xfrm>
            <a:prstGeom prst="line">
              <a:avLst/>
            </a:prstGeom>
            <a:ln w="38100" cap="flat">
              <a:solidFill>
                <a:srgbClr val="8CA9AD"/>
              </a:solidFill>
              <a:prstDash val="solid"/>
              <a:headEnd type="none" w="sm" len="sm"/>
              <a:tailEnd type="none" w="sm" len="sm"/>
            </a:ln>
          </p:spPr>
        </p:sp>
        <p:sp>
          <p:nvSpPr>
            <p:cNvPr id="32" name="AutoShape 32"/>
            <p:cNvSpPr/>
            <p:nvPr/>
          </p:nvSpPr>
          <p:spPr>
            <a:xfrm>
              <a:off x="676661" y="9346264"/>
              <a:ext cx="1790115" cy="1790115"/>
            </a:xfrm>
            <a:prstGeom prst="line">
              <a:avLst/>
            </a:prstGeom>
            <a:ln w="38100" cap="flat">
              <a:solidFill>
                <a:srgbClr val="8CA9AD"/>
              </a:solidFill>
              <a:prstDash val="solid"/>
              <a:headEnd type="none" w="sm" len="sm"/>
              <a:tailEnd type="none" w="sm" len="sm"/>
            </a:ln>
          </p:spPr>
        </p:sp>
      </p:grpSp>
      <p:grpSp>
        <p:nvGrpSpPr>
          <p:cNvPr id="33" name="Group 33"/>
          <p:cNvGrpSpPr/>
          <p:nvPr/>
        </p:nvGrpSpPr>
        <p:grpSpPr>
          <a:xfrm>
            <a:off x="-2634012" y="-5192964"/>
            <a:ext cx="8847511" cy="8855676"/>
            <a:chOff x="0" y="0"/>
            <a:chExt cx="11796681" cy="11807568"/>
          </a:xfrm>
        </p:grpSpPr>
        <p:grpSp>
          <p:nvGrpSpPr>
            <p:cNvPr id="34" name="Group 34"/>
            <p:cNvGrpSpPr/>
            <p:nvPr/>
          </p:nvGrpSpPr>
          <p:grpSpPr>
            <a:xfrm rot="2700000">
              <a:off x="1676828" y="2799524"/>
              <a:ext cx="9887197" cy="4753460"/>
              <a:chOff x="0" y="0"/>
              <a:chExt cx="660400" cy="317500"/>
            </a:xfrm>
          </p:grpSpPr>
          <p:sp>
            <p:nvSpPr>
              <p:cNvPr id="35" name="Freeform 35"/>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36" name="TextBox 36"/>
              <p:cNvSpPr txBox="1"/>
              <p:nvPr/>
            </p:nvSpPr>
            <p:spPr>
              <a:xfrm>
                <a:off x="0" y="146050"/>
                <a:ext cx="660400" cy="171450"/>
              </a:xfrm>
              <a:prstGeom prst="rect">
                <a:avLst/>
              </a:prstGeom>
            </p:spPr>
            <p:txBody>
              <a:bodyPr lIns="50800" tIns="50800" rIns="50800" bIns="50800" rtlCol="0" anchor="ctr"/>
              <a:lstStyle/>
              <a:p>
                <a:pPr algn="ctr">
                  <a:lnSpc>
                    <a:spcPts val="2553"/>
                  </a:lnSpc>
                </a:pPr>
                <a:endParaRPr/>
              </a:p>
            </p:txBody>
          </p:sp>
        </p:grpSp>
        <p:sp>
          <p:nvSpPr>
            <p:cNvPr id="37" name="AutoShape 37"/>
            <p:cNvSpPr/>
            <p:nvPr/>
          </p:nvSpPr>
          <p:spPr>
            <a:xfrm>
              <a:off x="1060010" y="3892256"/>
              <a:ext cx="6913622" cy="6843603"/>
            </a:xfrm>
            <a:prstGeom prst="line">
              <a:avLst/>
            </a:prstGeom>
            <a:ln w="38100" cap="flat">
              <a:solidFill>
                <a:srgbClr val="8CA9AD"/>
              </a:solidFill>
              <a:prstDash val="solid"/>
              <a:headEnd type="none" w="sm" len="sm"/>
              <a:tailEnd type="none" w="sm" len="sm"/>
            </a:ln>
          </p:spPr>
        </p:sp>
        <p:sp>
          <p:nvSpPr>
            <p:cNvPr id="38" name="AutoShape 38"/>
            <p:cNvSpPr/>
            <p:nvPr/>
          </p:nvSpPr>
          <p:spPr>
            <a:xfrm>
              <a:off x="774748" y="4309159"/>
              <a:ext cx="6718471" cy="6718471"/>
            </a:xfrm>
            <a:prstGeom prst="line">
              <a:avLst/>
            </a:prstGeom>
            <a:ln w="38100" cap="flat">
              <a:solidFill>
                <a:srgbClr val="8CA9AD"/>
              </a:solidFill>
              <a:prstDash val="solid"/>
              <a:headEnd type="none" w="sm" len="sm"/>
              <a:tailEnd type="none" w="sm" len="sm"/>
            </a:ln>
          </p:spPr>
        </p:sp>
        <p:sp>
          <p:nvSpPr>
            <p:cNvPr id="39" name="AutoShape 39"/>
            <p:cNvSpPr/>
            <p:nvPr/>
          </p:nvSpPr>
          <p:spPr>
            <a:xfrm>
              <a:off x="535279" y="4787119"/>
              <a:ext cx="6489522" cy="6489522"/>
            </a:xfrm>
            <a:prstGeom prst="line">
              <a:avLst/>
            </a:prstGeom>
            <a:ln w="38100" cap="flat">
              <a:solidFill>
                <a:srgbClr val="8CA9AD"/>
              </a:solidFill>
              <a:prstDash val="solid"/>
              <a:headEnd type="none" w="sm" len="sm"/>
              <a:tailEnd type="none" w="sm" len="sm"/>
            </a:ln>
          </p:spPr>
        </p:sp>
        <p:sp>
          <p:nvSpPr>
            <p:cNvPr id="40" name="AutoShape 40"/>
            <p:cNvSpPr/>
            <p:nvPr/>
          </p:nvSpPr>
          <p:spPr>
            <a:xfrm>
              <a:off x="366406" y="5302142"/>
              <a:ext cx="6254021" cy="6254021"/>
            </a:xfrm>
            <a:prstGeom prst="line">
              <a:avLst/>
            </a:prstGeom>
            <a:ln w="38100" cap="flat">
              <a:solidFill>
                <a:srgbClr val="8CA9AD"/>
              </a:solidFill>
              <a:prstDash val="solid"/>
              <a:headEnd type="none" w="sm" len="sm"/>
              <a:tailEnd type="none" w="sm" len="sm"/>
            </a:ln>
          </p:spPr>
        </p:sp>
        <p:sp>
          <p:nvSpPr>
            <p:cNvPr id="41" name="AutoShape 41"/>
            <p:cNvSpPr/>
            <p:nvPr/>
          </p:nvSpPr>
          <p:spPr>
            <a:xfrm>
              <a:off x="174601" y="5888378"/>
              <a:ext cx="5796899" cy="5796899"/>
            </a:xfrm>
            <a:prstGeom prst="line">
              <a:avLst/>
            </a:prstGeom>
            <a:ln w="38100" cap="flat">
              <a:solidFill>
                <a:srgbClr val="8CA9AD"/>
              </a:solidFill>
              <a:prstDash val="solid"/>
              <a:headEnd type="none" w="sm" len="sm"/>
              <a:tailEnd type="none" w="sm" len="sm"/>
            </a:ln>
          </p:spPr>
        </p:sp>
        <p:sp>
          <p:nvSpPr>
            <p:cNvPr id="42" name="AutoShape 42"/>
            <p:cNvSpPr/>
            <p:nvPr/>
          </p:nvSpPr>
          <p:spPr>
            <a:xfrm>
              <a:off x="13508" y="6480010"/>
              <a:ext cx="5284799" cy="5314125"/>
            </a:xfrm>
            <a:prstGeom prst="line">
              <a:avLst/>
            </a:prstGeom>
            <a:ln w="38100" cap="flat">
              <a:solidFill>
                <a:srgbClr val="8CA9AD"/>
              </a:solidFill>
              <a:prstDash val="solid"/>
              <a:headEnd type="none" w="sm" len="sm"/>
              <a:tailEnd type="none" w="sm" len="sm"/>
            </a:ln>
          </p:spPr>
        </p:sp>
        <p:sp>
          <p:nvSpPr>
            <p:cNvPr id="43" name="AutoShape 43"/>
            <p:cNvSpPr/>
            <p:nvPr/>
          </p:nvSpPr>
          <p:spPr>
            <a:xfrm>
              <a:off x="47865" y="7228854"/>
              <a:ext cx="4503313" cy="4480077"/>
            </a:xfrm>
            <a:prstGeom prst="line">
              <a:avLst/>
            </a:prstGeom>
            <a:ln w="38100" cap="flat">
              <a:solidFill>
                <a:srgbClr val="8CA9AD"/>
              </a:solidFill>
              <a:prstDash val="solid"/>
              <a:headEnd type="none" w="sm" len="sm"/>
              <a:tailEnd type="none" w="sm" len="sm"/>
            </a:ln>
          </p:spPr>
        </p:sp>
        <p:sp>
          <p:nvSpPr>
            <p:cNvPr id="44" name="AutoShape 44"/>
            <p:cNvSpPr/>
            <p:nvPr/>
          </p:nvSpPr>
          <p:spPr>
            <a:xfrm>
              <a:off x="165620" y="8131631"/>
              <a:ext cx="3504797" cy="3562626"/>
            </a:xfrm>
            <a:prstGeom prst="line">
              <a:avLst/>
            </a:prstGeom>
            <a:ln w="38100" cap="flat">
              <a:solidFill>
                <a:srgbClr val="8CA9AD"/>
              </a:solidFill>
              <a:prstDash val="solid"/>
              <a:headEnd type="none" w="sm" len="sm"/>
              <a:tailEnd type="none" w="sm" len="sm"/>
            </a:ln>
          </p:spPr>
        </p:sp>
        <p:sp>
          <p:nvSpPr>
            <p:cNvPr id="45" name="AutoShape 45"/>
            <p:cNvSpPr/>
            <p:nvPr/>
          </p:nvSpPr>
          <p:spPr>
            <a:xfrm>
              <a:off x="676661" y="9346264"/>
              <a:ext cx="1790115" cy="1790115"/>
            </a:xfrm>
            <a:prstGeom prst="line">
              <a:avLst/>
            </a:prstGeom>
            <a:ln w="38100" cap="flat">
              <a:solidFill>
                <a:srgbClr val="8CA9AD"/>
              </a:solidFill>
              <a:prstDash val="solid"/>
              <a:headEnd type="none" w="sm" len="sm"/>
              <a:tailEnd type="none" w="sm" len="sm"/>
            </a:ln>
          </p:spPr>
        </p:sp>
      </p:grpSp>
      <p:sp>
        <p:nvSpPr>
          <p:cNvPr id="46" name="Freeform 4">
            <a:extLst>
              <a:ext uri="{FF2B5EF4-FFF2-40B4-BE49-F238E27FC236}">
                <a16:creationId xmlns:a16="http://schemas.microsoft.com/office/drawing/2014/main" id="{F4AC85AB-05A2-FEB6-A034-71A769F608D4}"/>
              </a:ext>
            </a:extLst>
          </p:cNvPr>
          <p:cNvSpPr/>
          <p:nvPr/>
        </p:nvSpPr>
        <p:spPr>
          <a:xfrm>
            <a:off x="16304682" y="8857109"/>
            <a:ext cx="2001177" cy="142989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10"/>
            <a:stretch>
              <a:fillRect l="-636332" t="-3636" b="-15051"/>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702</Words>
  <Application>Microsoft Office PowerPoint</Application>
  <PresentationFormat>Custom</PresentationFormat>
  <Paragraphs>93</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Times New Roman Bold</vt:lpstr>
      <vt:lpstr>DM Sans Bold</vt:lpstr>
      <vt:lpstr>DM Sans</vt:lpstr>
      <vt:lpstr>Arial</vt:lpstr>
      <vt:lpstr>Kollektif Bold</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Colorful Modern Business Infographic Presentation</dc:title>
  <cp:lastModifiedBy>Shamanth MS</cp:lastModifiedBy>
  <cp:revision>11</cp:revision>
  <dcterms:created xsi:type="dcterms:W3CDTF">2006-08-16T00:00:00Z</dcterms:created>
  <dcterms:modified xsi:type="dcterms:W3CDTF">2026-02-13T14:45:31Z</dcterms:modified>
  <dc:identifier>DAF4737iCF0</dc:identifier>
</cp:coreProperties>
</file>